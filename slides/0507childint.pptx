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1"/>
  </p:notesMasterIdLst>
  <p:handoutMasterIdLst>
    <p:handoutMasterId r:id="rId32"/>
  </p:handoutMasterIdLst>
  <p:sldIdLst>
    <p:sldId id="256" r:id="rId5"/>
    <p:sldId id="279" r:id="rId6"/>
    <p:sldId id="257" r:id="rId7"/>
    <p:sldId id="258" r:id="rId8"/>
    <p:sldId id="259" r:id="rId9"/>
    <p:sldId id="260" r:id="rId10"/>
    <p:sldId id="261" r:id="rId11"/>
    <p:sldId id="262" r:id="rId12"/>
    <p:sldId id="281" r:id="rId13"/>
    <p:sldId id="263" r:id="rId14"/>
    <p:sldId id="264" r:id="rId15"/>
    <p:sldId id="265" r:id="rId16"/>
    <p:sldId id="266" r:id="rId17"/>
    <p:sldId id="267" r:id="rId18"/>
    <p:sldId id="268" r:id="rId19"/>
    <p:sldId id="272" r:id="rId20"/>
    <p:sldId id="273" r:id="rId21"/>
    <p:sldId id="269" r:id="rId22"/>
    <p:sldId id="274" r:id="rId23"/>
    <p:sldId id="275" r:id="rId24"/>
    <p:sldId id="270" r:id="rId25"/>
    <p:sldId id="276" r:id="rId26"/>
    <p:sldId id="277" r:id="rId27"/>
    <p:sldId id="271" r:id="rId28"/>
    <p:sldId id="280" r:id="rId29"/>
    <p:sldId id="28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32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50E021-F721-4030-9CF2-C8AB856DB896}" v="6" dt="2026-04-28T13:57:39.3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912" autoAdjust="0"/>
  </p:normalViewPr>
  <p:slideViewPr>
    <p:cSldViewPr snapToGrid="0">
      <p:cViewPr varScale="1">
        <p:scale>
          <a:sx n="58" d="100"/>
          <a:sy n="58" d="100"/>
        </p:scale>
        <p:origin x="1344" y="66"/>
      </p:cViewPr>
      <p:guideLst/>
    </p:cSldViewPr>
  </p:slideViewPr>
  <p:notesTextViewPr>
    <p:cViewPr>
      <p:scale>
        <a:sx n="1" d="1"/>
        <a:sy n="1" d="1"/>
      </p:scale>
      <p:origin x="0" y="0"/>
    </p:cViewPr>
  </p:notesTextViewPr>
  <p:notesViewPr>
    <p:cSldViewPr snapToGrid="0">
      <p:cViewPr varScale="1">
        <p:scale>
          <a:sx n="48" d="100"/>
          <a:sy n="48" d="100"/>
        </p:scale>
        <p:origin x="2752" y="3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 Arnold" userId="06548165-87e8-452e-800d-5421551f128d" providerId="ADAL" clId="{D654F15F-4EA7-4CB6-85AB-F713DD9E0929}"/>
    <pc:docChg chg="delSld modSld">
      <pc:chgData name="Rob Arnold" userId="06548165-87e8-452e-800d-5421551f128d" providerId="ADAL" clId="{D654F15F-4EA7-4CB6-85AB-F713DD9E0929}" dt="2026-04-28T14:01:00.723" v="4" actId="47"/>
      <pc:docMkLst>
        <pc:docMk/>
      </pc:docMkLst>
      <pc:sldChg chg="addSp modSp mod">
        <pc:chgData name="Rob Arnold" userId="06548165-87e8-452e-800d-5421551f128d" providerId="ADAL" clId="{D654F15F-4EA7-4CB6-85AB-F713DD9E0929}" dt="2026-04-28T13:52:06.795" v="1" actId="1076"/>
        <pc:sldMkLst>
          <pc:docMk/>
          <pc:sldMk cId="1239716289" sldId="256"/>
        </pc:sldMkLst>
        <pc:picChg chg="add mod">
          <ac:chgData name="Rob Arnold" userId="06548165-87e8-452e-800d-5421551f128d" providerId="ADAL" clId="{D654F15F-4EA7-4CB6-85AB-F713DD9E0929}" dt="2026-04-28T13:52:06.795" v="1" actId="1076"/>
          <ac:picMkLst>
            <pc:docMk/>
            <pc:sldMk cId="1239716289" sldId="256"/>
            <ac:picMk id="5" creationId="{BAD3BE63-61A7-60FE-E51B-9C5E570F676C}"/>
          </ac:picMkLst>
        </pc:picChg>
      </pc:sldChg>
      <pc:sldChg chg="modNotesTx">
        <pc:chgData name="Rob Arnold" userId="06548165-87e8-452e-800d-5421551f128d" providerId="ADAL" clId="{D654F15F-4EA7-4CB6-85AB-F713DD9E0929}" dt="2026-04-28T13:53:33.419" v="3" actId="20577"/>
        <pc:sldMkLst>
          <pc:docMk/>
          <pc:sldMk cId="3320906793" sldId="263"/>
        </pc:sldMkLst>
      </pc:sldChg>
      <pc:sldChg chg="del">
        <pc:chgData name="Rob Arnold" userId="06548165-87e8-452e-800d-5421551f128d" providerId="ADAL" clId="{D654F15F-4EA7-4CB6-85AB-F713DD9E0929}" dt="2026-04-28T14:01:00.723" v="4" actId="47"/>
        <pc:sldMkLst>
          <pc:docMk/>
          <pc:sldMk cId="406547128" sldId="278"/>
        </pc:sldMkLst>
      </pc:sldChg>
      <pc:sldChg chg="del">
        <pc:chgData name="Rob Arnold" userId="06548165-87e8-452e-800d-5421551f128d" providerId="ADAL" clId="{D654F15F-4EA7-4CB6-85AB-F713DD9E0929}" dt="2026-04-28T14:01:00.723" v="4" actId="47"/>
        <pc:sldMkLst>
          <pc:docMk/>
          <pc:sldMk cId="1674954092" sldId="282"/>
        </pc:sldMkLst>
      </pc:sldChg>
      <pc:sldChg chg="del">
        <pc:chgData name="Rob Arnold" userId="06548165-87e8-452e-800d-5421551f128d" providerId="ADAL" clId="{D654F15F-4EA7-4CB6-85AB-F713DD9E0929}" dt="2026-04-28T14:01:00.723" v="4" actId="47"/>
        <pc:sldMkLst>
          <pc:docMk/>
          <pc:sldMk cId="629024964" sldId="28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55D8E30-5E5D-AF9A-0A96-297EB3D511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6FF8718-AB06-AC1A-66D8-A48B8D49FB5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F0E5C78-A41C-489D-8F5B-B0F975C0888F}" type="datetimeFigureOut">
              <a:rPr lang="en-US" smtClean="0"/>
              <a:t>4/28/2026</a:t>
            </a:fld>
            <a:endParaRPr lang="en-US"/>
          </a:p>
        </p:txBody>
      </p:sp>
      <p:sp>
        <p:nvSpPr>
          <p:cNvPr id="4" name="Footer Placeholder 3">
            <a:extLst>
              <a:ext uri="{FF2B5EF4-FFF2-40B4-BE49-F238E27FC236}">
                <a16:creationId xmlns:a16="http://schemas.microsoft.com/office/drawing/2014/main" id="{CEB440D2-41CA-8046-A259-ACBEF405F76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TLP: Amber</a:t>
            </a:r>
          </a:p>
          <a:p>
            <a:r>
              <a:rPr lang="en-US" dirty="0"/>
              <a:t>Rob Arnold, CISSP</a:t>
            </a:r>
          </a:p>
          <a:p>
            <a:r>
              <a:rPr lang="en-US" dirty="0"/>
              <a:t>rarnold@children.org</a:t>
            </a:r>
          </a:p>
        </p:txBody>
      </p:sp>
      <p:sp>
        <p:nvSpPr>
          <p:cNvPr id="5" name="Slide Number Placeholder 4">
            <a:extLst>
              <a:ext uri="{FF2B5EF4-FFF2-40B4-BE49-F238E27FC236}">
                <a16:creationId xmlns:a16="http://schemas.microsoft.com/office/drawing/2014/main" id="{D06A82C7-6C3F-9F6E-39A5-7D28B9A89C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531503D-A183-456E-916E-5E2EC6AE7A7E}" type="slidenum">
              <a:rPr lang="en-US" smtClean="0"/>
              <a:t>‹#›</a:t>
            </a:fld>
            <a:endParaRPr lang="en-US"/>
          </a:p>
        </p:txBody>
      </p:sp>
    </p:spTree>
    <p:extLst>
      <p:ext uri="{BB962C8B-B14F-4D97-AF65-F5344CB8AC3E}">
        <p14:creationId xmlns:p14="http://schemas.microsoft.com/office/powerpoint/2010/main" val="38897669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B55742-91FE-44C8-9AD1-F50E26574287}" type="datetimeFigureOut">
              <a:rPr lang="en-US" smtClean="0"/>
              <a:t>4/28/2026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E133B1-ACB3-43FA-A87A-276BAD421325}" type="slidenum">
              <a:rPr lang="en-US" smtClean="0"/>
              <a:t>‹#›</a:t>
            </a:fld>
            <a:endParaRPr lang="en-US"/>
          </a:p>
        </p:txBody>
      </p:sp>
    </p:spTree>
    <p:extLst>
      <p:ext uri="{BB962C8B-B14F-4D97-AF65-F5344CB8AC3E}">
        <p14:creationId xmlns:p14="http://schemas.microsoft.com/office/powerpoint/2010/main" val="181871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 Arnold, </a:t>
            </a:r>
            <a:r>
              <a:rPr lang="en-US"/>
              <a:t>CISSP </a:t>
            </a:r>
          </a:p>
          <a:p>
            <a:r>
              <a:rPr lang="en-US"/>
              <a:t>rarnold</a:t>
            </a:r>
            <a:r>
              <a:rPr lang="en-US" dirty="0"/>
              <a:t>@children.org</a:t>
            </a:r>
          </a:p>
          <a:p>
            <a:endParaRPr lang="en-US" dirty="0"/>
          </a:p>
          <a:p>
            <a:r>
              <a:rPr lang="en-US" dirty="0"/>
              <a:t>TLP:AMBER – you may share this inside your organization, but other disclosure is limited.</a:t>
            </a:r>
          </a:p>
        </p:txBody>
      </p:sp>
      <p:sp>
        <p:nvSpPr>
          <p:cNvPr id="4" name="Slide Number Placeholder 3"/>
          <p:cNvSpPr>
            <a:spLocks noGrp="1"/>
          </p:cNvSpPr>
          <p:nvPr>
            <p:ph type="sldNum" sz="quarter" idx="5"/>
          </p:nvPr>
        </p:nvSpPr>
        <p:spPr/>
        <p:txBody>
          <a:bodyPr/>
          <a:lstStyle/>
          <a:p>
            <a:fld id="{10E133B1-ACB3-43FA-A87A-276BAD421325}" type="slidenum">
              <a:rPr lang="en-US" smtClean="0"/>
              <a:t>1</a:t>
            </a:fld>
            <a:endParaRPr lang="en-US"/>
          </a:p>
        </p:txBody>
      </p:sp>
    </p:spTree>
    <p:extLst>
      <p:ext uri="{BB962C8B-B14F-4D97-AF65-F5344CB8AC3E}">
        <p14:creationId xmlns:p14="http://schemas.microsoft.com/office/powerpoint/2010/main" val="3701694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Quick level set—short talk track</a:t>
            </a:r>
          </a:p>
          <a:p>
            <a:endParaRPr lang="en-US"/>
          </a:p>
          <a:p>
            <a:r>
              <a:rPr lang="en-US"/>
              <a:t>Modern is a vibe—what we have done for decades doesn’t prevent bad outcomes. Let’s change our thinking</a:t>
            </a:r>
          </a:p>
        </p:txBody>
      </p:sp>
      <p:sp>
        <p:nvSpPr>
          <p:cNvPr id="4" name="Slide Number Placeholder 3"/>
          <p:cNvSpPr>
            <a:spLocks noGrp="1"/>
          </p:cNvSpPr>
          <p:nvPr>
            <p:ph type="sldNum" sz="quarter" idx="5"/>
          </p:nvPr>
        </p:nvSpPr>
        <p:spPr/>
        <p:txBody>
          <a:bodyPr/>
          <a:lstStyle/>
          <a:p>
            <a:fld id="{10E133B1-ACB3-43FA-A87A-276BAD421325}" type="slidenum">
              <a:rPr lang="en-US" smtClean="0"/>
              <a:t>2</a:t>
            </a:fld>
            <a:endParaRPr lang="en-US"/>
          </a:p>
        </p:txBody>
      </p:sp>
    </p:spTree>
    <p:extLst>
      <p:ext uri="{BB962C8B-B14F-4D97-AF65-F5344CB8AC3E}">
        <p14:creationId xmlns:p14="http://schemas.microsoft.com/office/powerpoint/2010/main" val="3231390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E133B1-ACB3-43FA-A87A-276BAD421325}" type="slidenum">
              <a:rPr lang="en-US" smtClean="0"/>
              <a:t>3</a:t>
            </a:fld>
            <a:endParaRPr lang="en-US"/>
          </a:p>
        </p:txBody>
      </p:sp>
    </p:spTree>
    <p:extLst>
      <p:ext uri="{BB962C8B-B14F-4D97-AF65-F5344CB8AC3E}">
        <p14:creationId xmlns:p14="http://schemas.microsoft.com/office/powerpoint/2010/main" val="2198946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points:</a:t>
            </a:r>
          </a:p>
          <a:p>
            <a:r>
              <a:rPr lang="en-US" dirty="0"/>
              <a:t>Substantial local budget autonomy even though tech is largely centrally-provided</a:t>
            </a:r>
          </a:p>
          <a:p>
            <a:r>
              <a:rPr lang="en-US" dirty="0"/>
              <a:t>They buy local to get better deals than we could</a:t>
            </a:r>
          </a:p>
          <a:p>
            <a:pPr marL="171450" indent="-171450">
              <a:buFontTx/>
              <a:buChar char="-"/>
            </a:pPr>
            <a:r>
              <a:rPr lang="en-US" dirty="0"/>
              <a:t>Equipment</a:t>
            </a:r>
          </a:p>
          <a:p>
            <a:pPr marL="171450" indent="-171450">
              <a:buFontTx/>
              <a:buChar char="-"/>
            </a:pPr>
            <a:r>
              <a:rPr lang="en-US" dirty="0"/>
              <a:t>Internet connections</a:t>
            </a:r>
          </a:p>
          <a:p>
            <a:pPr marL="0" indent="0">
              <a:buFontTx/>
              <a:buNone/>
            </a:pPr>
            <a:r>
              <a:rPr lang="en-US" dirty="0"/>
              <a:t>HQ is just another location</a:t>
            </a:r>
          </a:p>
          <a:p>
            <a:pPr marL="0" indent="0">
              <a:buFontTx/>
              <a:buNone/>
            </a:pPr>
            <a:r>
              <a:rPr lang="en-US" dirty="0"/>
              <a:t>Equipment uniformity in 2025 – WLAN first, cloud managed via Fortinet</a:t>
            </a:r>
          </a:p>
          <a:p>
            <a:pPr marL="0" indent="0">
              <a:buFontTx/>
              <a:buNone/>
            </a:pPr>
            <a:endParaRPr lang="en-US" dirty="0"/>
          </a:p>
        </p:txBody>
      </p:sp>
      <p:sp>
        <p:nvSpPr>
          <p:cNvPr id="4" name="Slide Number Placeholder 3"/>
          <p:cNvSpPr>
            <a:spLocks noGrp="1"/>
          </p:cNvSpPr>
          <p:nvPr>
            <p:ph type="sldNum" sz="quarter" idx="5"/>
          </p:nvPr>
        </p:nvSpPr>
        <p:spPr/>
        <p:txBody>
          <a:bodyPr/>
          <a:lstStyle/>
          <a:p>
            <a:fld id="{10E133B1-ACB3-43FA-A87A-276BAD421325}" type="slidenum">
              <a:rPr lang="en-US" smtClean="0"/>
              <a:t>4</a:t>
            </a:fld>
            <a:endParaRPr lang="en-US"/>
          </a:p>
        </p:txBody>
      </p:sp>
    </p:spTree>
    <p:extLst>
      <p:ext uri="{BB962C8B-B14F-4D97-AF65-F5344CB8AC3E}">
        <p14:creationId xmlns:p14="http://schemas.microsoft.com/office/powerpoint/2010/main" val="38901918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 glad not to have to defend against Gov adversaries – Mossad not in my threat model</a:t>
            </a:r>
          </a:p>
          <a:p>
            <a:r>
              <a:rPr lang="en-US"/>
              <a:t>Decentralization matters a lot to the design of protective controls</a:t>
            </a:r>
          </a:p>
          <a:p>
            <a:r>
              <a:rPr lang="en-US"/>
              <a:t>Protection needs to go with you to where you work</a:t>
            </a:r>
          </a:p>
          <a:p>
            <a:r>
              <a:rPr lang="en-US"/>
              <a:t>Whole new set of problems to solve as we expand our reliance on partners to do our work</a:t>
            </a:r>
          </a:p>
          <a:p>
            <a:endParaRPr lang="en-US"/>
          </a:p>
        </p:txBody>
      </p:sp>
      <p:sp>
        <p:nvSpPr>
          <p:cNvPr id="4" name="Slide Number Placeholder 3"/>
          <p:cNvSpPr>
            <a:spLocks noGrp="1"/>
          </p:cNvSpPr>
          <p:nvPr>
            <p:ph type="sldNum" sz="quarter" idx="5"/>
          </p:nvPr>
        </p:nvSpPr>
        <p:spPr/>
        <p:txBody>
          <a:bodyPr/>
          <a:lstStyle/>
          <a:p>
            <a:fld id="{10E133B1-ACB3-43FA-A87A-276BAD421325}" type="slidenum">
              <a:rPr lang="en-US" smtClean="0"/>
              <a:t>5</a:t>
            </a:fld>
            <a:endParaRPr lang="en-US"/>
          </a:p>
        </p:txBody>
      </p:sp>
    </p:spTree>
    <p:extLst>
      <p:ext uri="{BB962C8B-B14F-4D97-AF65-F5344CB8AC3E}">
        <p14:creationId xmlns:p14="http://schemas.microsoft.com/office/powerpoint/2010/main" val="41960001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grew up working in Financial services—a very different attacker profile and risk tolerance</a:t>
            </a:r>
          </a:p>
          <a:p>
            <a:endParaRPr lang="en-US"/>
          </a:p>
          <a:p>
            <a:r>
              <a:rPr lang="en-US"/>
              <a:t>Basic cyber hygiene is the sweet spot—advanced topics are not good use of resources for us</a:t>
            </a:r>
          </a:p>
        </p:txBody>
      </p:sp>
      <p:sp>
        <p:nvSpPr>
          <p:cNvPr id="4" name="Slide Number Placeholder 3"/>
          <p:cNvSpPr>
            <a:spLocks noGrp="1"/>
          </p:cNvSpPr>
          <p:nvPr>
            <p:ph type="sldNum" sz="quarter" idx="5"/>
          </p:nvPr>
        </p:nvSpPr>
        <p:spPr/>
        <p:txBody>
          <a:bodyPr/>
          <a:lstStyle/>
          <a:p>
            <a:fld id="{10E133B1-ACB3-43FA-A87A-276BAD421325}" type="slidenum">
              <a:rPr lang="en-US" smtClean="0"/>
              <a:t>6</a:t>
            </a:fld>
            <a:endParaRPr lang="en-US"/>
          </a:p>
        </p:txBody>
      </p:sp>
    </p:spTree>
    <p:extLst>
      <p:ext uri="{BB962C8B-B14F-4D97-AF65-F5344CB8AC3E}">
        <p14:creationId xmlns:p14="http://schemas.microsoft.com/office/powerpoint/2010/main" val="4254930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Strong MFA example – requiring the highest strength MFA could impede our people in areas where smartphone use is less prevalent</a:t>
            </a:r>
          </a:p>
          <a:p>
            <a:r>
              <a:rPr lang="en-US"/>
              <a:t>We make strong MFA available without requiring it (yet)</a:t>
            </a:r>
          </a:p>
          <a:p>
            <a:r>
              <a:rPr lang="en-US"/>
              <a:t>We make sure we can demonstrate the effectiveness of MFA </a:t>
            </a:r>
          </a:p>
          <a:p>
            <a:r>
              <a:rPr lang="en-US"/>
              <a:t>All security choices are tradeoffs, often against convenience: work has to get done</a:t>
            </a:r>
          </a:p>
          <a:p>
            <a:endParaRPr lang="en-US"/>
          </a:p>
          <a:p>
            <a:r>
              <a:rPr lang="en-US"/>
              <a:t>Location restriction example – blocking signins from countries we don’t operate in can “strand” our staff without access to their work email during travel</a:t>
            </a:r>
          </a:p>
          <a:p>
            <a:r>
              <a:rPr lang="en-US"/>
              <a:t>We do block a short list of “out of bounds” countries, but we’ve loosened that over time rather than tightening it</a:t>
            </a:r>
          </a:p>
          <a:p>
            <a:r>
              <a:rPr lang="en-US"/>
              <a:t>Look at analytics daily about this</a:t>
            </a:r>
          </a:p>
        </p:txBody>
      </p:sp>
      <p:sp>
        <p:nvSpPr>
          <p:cNvPr id="4" name="Slide Number Placeholder 3"/>
          <p:cNvSpPr>
            <a:spLocks noGrp="1"/>
          </p:cNvSpPr>
          <p:nvPr>
            <p:ph type="sldNum" sz="quarter" idx="5"/>
          </p:nvPr>
        </p:nvSpPr>
        <p:spPr/>
        <p:txBody>
          <a:bodyPr/>
          <a:lstStyle/>
          <a:p>
            <a:fld id="{10E133B1-ACB3-43FA-A87A-276BAD421325}" type="slidenum">
              <a:rPr lang="en-US" smtClean="0"/>
              <a:t>7</a:t>
            </a:fld>
            <a:endParaRPr lang="en-US"/>
          </a:p>
        </p:txBody>
      </p:sp>
    </p:spTree>
    <p:extLst>
      <p:ext uri="{BB962C8B-B14F-4D97-AF65-F5344CB8AC3E}">
        <p14:creationId xmlns:p14="http://schemas.microsoft.com/office/powerpoint/2010/main" val="5714177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13 domains means 13 policies, audit logs, configurations to audit, etc.</a:t>
            </a:r>
          </a:p>
          <a:p>
            <a:endParaRPr lang="en-US"/>
          </a:p>
          <a:p>
            <a:r>
              <a:rPr lang="en-US"/>
              <a:t>We ran in hybrid mode for a few years—passwords synced between the cloud and the on-prem</a:t>
            </a:r>
          </a:p>
          <a:p>
            <a:r>
              <a:rPr lang="en-US"/>
              <a:t>Used Conditional access policy to enforce MFA</a:t>
            </a:r>
          </a:p>
          <a:p>
            <a:pPr marL="171450" indent="-171450">
              <a:buFontTx/>
              <a:buChar char="-"/>
            </a:pPr>
            <a:r>
              <a:rPr lang="en-US"/>
              <a:t>Started with every method as an option</a:t>
            </a:r>
          </a:p>
          <a:p>
            <a:pPr marL="171450" indent="-171450">
              <a:buFontTx/>
              <a:buChar char="-"/>
            </a:pPr>
            <a:r>
              <a:rPr lang="en-US"/>
              <a:t>Quickly removed device flow codes because they are super weak/exploitable</a:t>
            </a:r>
          </a:p>
          <a:p>
            <a:pPr marL="171450" indent="-171450">
              <a:buFontTx/>
              <a:buChar char="-"/>
            </a:pPr>
            <a:r>
              <a:rPr lang="en-US"/>
              <a:t>Later removed SMS with certain exceptions</a:t>
            </a:r>
          </a:p>
          <a:p>
            <a:pPr marL="0" indent="0">
              <a:buFontTx/>
              <a:buNone/>
            </a:pPr>
            <a:r>
              <a:rPr lang="en-US"/>
              <a:t>Process matters a lot – looking at our enrollment for MFA stats taught us where we had problems to address</a:t>
            </a:r>
          </a:p>
          <a:p>
            <a:pPr marL="171450" indent="-171450">
              <a:buFontTx/>
              <a:buChar char="-"/>
            </a:pPr>
            <a:r>
              <a:rPr lang="en-US"/>
              <a:t>ex. Zambia is an area where toll fraud is prevalent, so the “phone call” step of MFA enrollment was not an available option there</a:t>
            </a:r>
          </a:p>
          <a:p>
            <a:pPr marL="171450" indent="-171450">
              <a:buFontTx/>
              <a:buChar char="-"/>
            </a:pPr>
            <a:r>
              <a:rPr lang="en-US"/>
              <a:t>We chose to allow personal email in ZM only as a second method to establish ID</a:t>
            </a:r>
          </a:p>
          <a:p>
            <a:r>
              <a:rPr lang="en-US"/>
              <a:t>Attained cloud native in 2025</a:t>
            </a:r>
          </a:p>
          <a:p>
            <a:pPr marL="171450" indent="-171450">
              <a:buFontTx/>
              <a:buChar char="-"/>
            </a:pPr>
            <a:r>
              <a:rPr lang="en-US"/>
              <a:t>Bonus key learning: SSPR and MFA enrollment used to be separate, MSFT converged these in 2025 sometime, creating a few new problems</a:t>
            </a:r>
          </a:p>
          <a:p>
            <a:pPr marL="171450" indent="-171450">
              <a:buFontTx/>
              <a:buChar char="-"/>
            </a:pPr>
            <a:r>
              <a:rPr lang="en-US"/>
              <a:t>Learning to audit your MFA enrollment is productive</a:t>
            </a:r>
          </a:p>
        </p:txBody>
      </p:sp>
      <p:sp>
        <p:nvSpPr>
          <p:cNvPr id="4" name="Slide Number Placeholder 3"/>
          <p:cNvSpPr>
            <a:spLocks noGrp="1"/>
          </p:cNvSpPr>
          <p:nvPr>
            <p:ph type="sldNum" sz="quarter" idx="5"/>
          </p:nvPr>
        </p:nvSpPr>
        <p:spPr/>
        <p:txBody>
          <a:bodyPr/>
          <a:lstStyle/>
          <a:p>
            <a:fld id="{10E133B1-ACB3-43FA-A87A-276BAD421325}" type="slidenum">
              <a:rPr lang="en-US" smtClean="0"/>
              <a:t>8</a:t>
            </a:fld>
            <a:endParaRPr lang="en-US"/>
          </a:p>
        </p:txBody>
      </p:sp>
    </p:spTree>
    <p:extLst>
      <p:ext uri="{BB962C8B-B14F-4D97-AF65-F5344CB8AC3E}">
        <p14:creationId xmlns:p14="http://schemas.microsoft.com/office/powerpoint/2010/main" val="32922651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MFA means rarely do you get successful phish</a:t>
            </a:r>
          </a:p>
          <a:p>
            <a:endParaRPr lang="en-US" dirty="0"/>
          </a:p>
          <a:p>
            <a:r>
              <a:rPr lang="en-US" dirty="0"/>
              <a:t>Self-remediation is really valuable: if Entra thinks your </a:t>
            </a:r>
            <a:r>
              <a:rPr lang="en-US" dirty="0" err="1"/>
              <a:t>signin</a:t>
            </a:r>
            <a:r>
              <a:rPr lang="en-US" dirty="0"/>
              <a:t> right now is especially risky, you could see an MFA challenge. </a:t>
            </a:r>
          </a:p>
          <a:p>
            <a:endParaRPr lang="en-US" dirty="0"/>
          </a:p>
          <a:p>
            <a:r>
              <a:rPr lang="en-US" dirty="0"/>
              <a:t>Passing the MFA challenge reduces your risk score</a:t>
            </a:r>
          </a:p>
          <a:p>
            <a:endParaRPr lang="en-US" dirty="0"/>
          </a:p>
          <a:p>
            <a:r>
              <a:rPr lang="en-US" dirty="0"/>
              <a:t>Self-service password rest is now closely tied to MFA in Entra, because you register for both at the same time, which did not used to be true.</a:t>
            </a:r>
          </a:p>
        </p:txBody>
      </p:sp>
      <p:sp>
        <p:nvSpPr>
          <p:cNvPr id="4" name="Slide Number Placeholder 3"/>
          <p:cNvSpPr>
            <a:spLocks noGrp="1"/>
          </p:cNvSpPr>
          <p:nvPr>
            <p:ph type="sldNum" sz="quarter" idx="5"/>
          </p:nvPr>
        </p:nvSpPr>
        <p:spPr/>
        <p:txBody>
          <a:bodyPr/>
          <a:lstStyle/>
          <a:p>
            <a:fld id="{10E133B1-ACB3-43FA-A87A-276BAD421325}" type="slidenum">
              <a:rPr lang="en-US" smtClean="0"/>
              <a:t>9</a:t>
            </a:fld>
            <a:endParaRPr lang="en-US"/>
          </a:p>
        </p:txBody>
      </p:sp>
    </p:spTree>
    <p:extLst>
      <p:ext uri="{BB962C8B-B14F-4D97-AF65-F5344CB8AC3E}">
        <p14:creationId xmlns:p14="http://schemas.microsoft.com/office/powerpoint/2010/main" val="22910418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Zambia toll fraud is enough of a thing that Microsoft won’t allow us to use the phone call MFA method. We had to tailor a policy for that area that lets folks get registered.</a:t>
            </a:r>
          </a:p>
          <a:p>
            <a:endParaRPr lang="en-US" dirty="0"/>
          </a:p>
          <a:p>
            <a:r>
              <a:rPr lang="en-US" dirty="0"/>
              <a:t>These reports were what we used to get our heads around the issues and whether our solutions were effective.</a:t>
            </a:r>
          </a:p>
        </p:txBody>
      </p:sp>
      <p:sp>
        <p:nvSpPr>
          <p:cNvPr id="4" name="Slide Number Placeholder 3"/>
          <p:cNvSpPr>
            <a:spLocks noGrp="1"/>
          </p:cNvSpPr>
          <p:nvPr>
            <p:ph type="sldNum" sz="quarter" idx="5"/>
          </p:nvPr>
        </p:nvSpPr>
        <p:spPr/>
        <p:txBody>
          <a:bodyPr/>
          <a:lstStyle/>
          <a:p>
            <a:fld id="{10E133B1-ACB3-43FA-A87A-276BAD421325}" type="slidenum">
              <a:rPr lang="en-US" smtClean="0"/>
              <a:t>10</a:t>
            </a:fld>
            <a:endParaRPr lang="en-US"/>
          </a:p>
        </p:txBody>
      </p:sp>
    </p:spTree>
    <p:extLst>
      <p:ext uri="{BB962C8B-B14F-4D97-AF65-F5344CB8AC3E}">
        <p14:creationId xmlns:p14="http://schemas.microsoft.com/office/powerpoint/2010/main" val="36272847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story is one I did an entire conference talk about, but you get the short version.</a:t>
            </a:r>
          </a:p>
          <a:p>
            <a:endParaRPr lang="en-US"/>
          </a:p>
          <a:p>
            <a:r>
              <a:rPr lang="en-US"/>
              <a:t>I want everyone to know that industrializing your desktop management pays off. We used Intune, it’s not the only way.</a:t>
            </a:r>
          </a:p>
          <a:p>
            <a:endParaRPr lang="en-US"/>
          </a:p>
          <a:p>
            <a:r>
              <a:rPr lang="en-US"/>
              <a:t>Consistency and standards that are enforced, those seem like self-evident good things, but prepare for resistance. I thought I was being conservative estimating this to take us 6 months, I was super optimistic.</a:t>
            </a:r>
          </a:p>
        </p:txBody>
      </p:sp>
      <p:sp>
        <p:nvSpPr>
          <p:cNvPr id="4" name="Slide Number Placeholder 3"/>
          <p:cNvSpPr>
            <a:spLocks noGrp="1"/>
          </p:cNvSpPr>
          <p:nvPr>
            <p:ph type="sldNum" sz="quarter" idx="5"/>
          </p:nvPr>
        </p:nvSpPr>
        <p:spPr/>
        <p:txBody>
          <a:bodyPr/>
          <a:lstStyle/>
          <a:p>
            <a:fld id="{10E133B1-ACB3-43FA-A87A-276BAD421325}" type="slidenum">
              <a:rPr lang="en-US" smtClean="0"/>
              <a:t>11</a:t>
            </a:fld>
            <a:endParaRPr lang="en-US"/>
          </a:p>
        </p:txBody>
      </p:sp>
    </p:spTree>
    <p:extLst>
      <p:ext uri="{BB962C8B-B14F-4D97-AF65-F5344CB8AC3E}">
        <p14:creationId xmlns:p14="http://schemas.microsoft.com/office/powerpoint/2010/main" val="175211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Changing people’s jobs is a special kind of friction.</a:t>
            </a:r>
          </a:p>
          <a:p>
            <a:endParaRPr lang="en-US"/>
          </a:p>
          <a:p>
            <a:r>
              <a:rPr lang="en-US"/>
              <a:t>People cling to what they know.</a:t>
            </a:r>
          </a:p>
          <a:p>
            <a:endParaRPr lang="en-US"/>
          </a:p>
          <a:p>
            <a:r>
              <a:rPr lang="en-US"/>
              <a:t>That impulse is often magnified if it was super hard to get in the first place.</a:t>
            </a:r>
          </a:p>
        </p:txBody>
      </p:sp>
      <p:sp>
        <p:nvSpPr>
          <p:cNvPr id="4" name="Slide Number Placeholder 3"/>
          <p:cNvSpPr>
            <a:spLocks noGrp="1"/>
          </p:cNvSpPr>
          <p:nvPr>
            <p:ph type="sldNum" sz="quarter" idx="5"/>
          </p:nvPr>
        </p:nvSpPr>
        <p:spPr/>
        <p:txBody>
          <a:bodyPr/>
          <a:lstStyle/>
          <a:p>
            <a:fld id="{10E133B1-ACB3-43FA-A87A-276BAD421325}" type="slidenum">
              <a:rPr lang="en-US" smtClean="0"/>
              <a:t>12</a:t>
            </a:fld>
            <a:endParaRPr lang="en-US"/>
          </a:p>
        </p:txBody>
      </p:sp>
    </p:spTree>
    <p:extLst>
      <p:ext uri="{BB962C8B-B14F-4D97-AF65-F5344CB8AC3E}">
        <p14:creationId xmlns:p14="http://schemas.microsoft.com/office/powerpoint/2010/main" val="24638915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But the benefits are so compelling.</a:t>
            </a:r>
          </a:p>
          <a:p>
            <a:endParaRPr lang="en-US"/>
          </a:p>
          <a:p>
            <a:r>
              <a:rPr lang="en-US"/>
              <a:t>If building a machine is a painful event you need to not avoid it, you need to industrialize it and do it a lot more frequently.</a:t>
            </a:r>
          </a:p>
        </p:txBody>
      </p:sp>
      <p:sp>
        <p:nvSpPr>
          <p:cNvPr id="4" name="Slide Number Placeholder 3"/>
          <p:cNvSpPr>
            <a:spLocks noGrp="1"/>
          </p:cNvSpPr>
          <p:nvPr>
            <p:ph type="sldNum" sz="quarter" idx="5"/>
          </p:nvPr>
        </p:nvSpPr>
        <p:spPr/>
        <p:txBody>
          <a:bodyPr/>
          <a:lstStyle/>
          <a:p>
            <a:fld id="{10E133B1-ACB3-43FA-A87A-276BAD421325}" type="slidenum">
              <a:rPr lang="en-US" smtClean="0"/>
              <a:t>13</a:t>
            </a:fld>
            <a:endParaRPr lang="en-US"/>
          </a:p>
        </p:txBody>
      </p:sp>
    </p:spTree>
    <p:extLst>
      <p:ext uri="{BB962C8B-B14F-4D97-AF65-F5344CB8AC3E}">
        <p14:creationId xmlns:p14="http://schemas.microsoft.com/office/powerpoint/2010/main" val="18249548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 not here to pretend it’s simple—there are hundreds of configuration items you need to consider.</a:t>
            </a:r>
          </a:p>
          <a:p>
            <a:endParaRPr lang="en-US"/>
          </a:p>
          <a:p>
            <a:r>
              <a:rPr lang="en-US"/>
              <a:t>A few that really count are shown here.</a:t>
            </a:r>
          </a:p>
          <a:p>
            <a:endParaRPr lang="en-US"/>
          </a:p>
          <a:p>
            <a:r>
              <a:rPr lang="en-US"/>
              <a:t>Folder redirection is essential to the shortest time to recovery when you reset machines.</a:t>
            </a:r>
          </a:p>
          <a:p>
            <a:endParaRPr lang="en-US"/>
          </a:p>
          <a:p>
            <a:r>
              <a:rPr lang="en-US"/>
              <a:t>Standard software can be loaded automatically, and we use a “app store” that lets people self-serve optional items curated for their job role.</a:t>
            </a:r>
          </a:p>
        </p:txBody>
      </p:sp>
      <p:sp>
        <p:nvSpPr>
          <p:cNvPr id="4" name="Slide Number Placeholder 3"/>
          <p:cNvSpPr>
            <a:spLocks noGrp="1"/>
          </p:cNvSpPr>
          <p:nvPr>
            <p:ph type="sldNum" sz="quarter" idx="5"/>
          </p:nvPr>
        </p:nvSpPr>
        <p:spPr/>
        <p:txBody>
          <a:bodyPr/>
          <a:lstStyle/>
          <a:p>
            <a:fld id="{10E133B1-ACB3-43FA-A87A-276BAD421325}" type="slidenum">
              <a:rPr lang="en-US" smtClean="0"/>
              <a:t>14</a:t>
            </a:fld>
            <a:endParaRPr lang="en-US"/>
          </a:p>
        </p:txBody>
      </p:sp>
    </p:spTree>
    <p:extLst>
      <p:ext uri="{BB962C8B-B14F-4D97-AF65-F5344CB8AC3E}">
        <p14:creationId xmlns:p14="http://schemas.microsoft.com/office/powerpoint/2010/main" val="23419078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I’ll spend most of the time talking about what integrated means.</a:t>
            </a:r>
          </a:p>
          <a:p>
            <a:endParaRPr lang="en-US"/>
          </a:p>
          <a:p>
            <a:r>
              <a:rPr lang="en-US"/>
              <a:t>When I had Trend Micro, it didn’t have any ability to look into other parts of the protection stack. It did very well at blocking malware if it knew the signature, but the total journey to “remediation” might involve researching where the thing came from, how many folks got it but didn’t click it just yet, and left quite a bit of manual work that needed several consoles to accomplish.</a:t>
            </a:r>
          </a:p>
          <a:p>
            <a:endParaRPr lang="en-US"/>
          </a:p>
          <a:p>
            <a:r>
              <a:rPr lang="en-US"/>
              <a:t>The X part of Defender XDR is really the pre-built integrations between the parts of the stack, which all save time and energy spent remediating or investigating.</a:t>
            </a:r>
          </a:p>
          <a:p>
            <a:r>
              <a:rPr lang="en-US"/>
              <a:t>Real-world example: attacker sends my CFO a spear phish link, successfully evading email filters. The link has more than one time-of-click protection mechanism though. So after it gets clicked, it is assessed as malicious. Defender XDR as part of the out-of-box behavior, will subsequently </a:t>
            </a:r>
            <a:r>
              <a:rPr lang="en-US" err="1"/>
              <a:t>undeliver</a:t>
            </a:r>
            <a:r>
              <a:rPr lang="en-US"/>
              <a:t> any mail containing that malicious link. The parts of the stack work together without you wiring them up for that.</a:t>
            </a:r>
          </a:p>
        </p:txBody>
      </p:sp>
      <p:sp>
        <p:nvSpPr>
          <p:cNvPr id="4" name="Slide Number Placeholder 3"/>
          <p:cNvSpPr>
            <a:spLocks noGrp="1"/>
          </p:cNvSpPr>
          <p:nvPr>
            <p:ph type="sldNum" sz="quarter" idx="5"/>
          </p:nvPr>
        </p:nvSpPr>
        <p:spPr/>
        <p:txBody>
          <a:bodyPr/>
          <a:lstStyle/>
          <a:p>
            <a:fld id="{10E133B1-ACB3-43FA-A87A-276BAD421325}" type="slidenum">
              <a:rPr lang="en-US" smtClean="0"/>
              <a:t>15</a:t>
            </a:fld>
            <a:endParaRPr lang="en-US"/>
          </a:p>
        </p:txBody>
      </p:sp>
    </p:spTree>
    <p:extLst>
      <p:ext uri="{BB962C8B-B14F-4D97-AF65-F5344CB8AC3E}">
        <p14:creationId xmlns:p14="http://schemas.microsoft.com/office/powerpoint/2010/main" val="756193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Take the fast road that leads to nuke &amp; pave.</a:t>
            </a:r>
          </a:p>
          <a:p>
            <a:endParaRPr lang="en-US"/>
          </a:p>
          <a:p>
            <a:r>
              <a:rPr lang="en-US"/>
              <a:t>I get pretty solid descriptions of the malware capability from the detection alerts. Usually, we are looking at commodity malware that is easily blocked. But occasionally you can encounter nastier stuff.</a:t>
            </a:r>
          </a:p>
          <a:p>
            <a:endParaRPr lang="en-US"/>
          </a:p>
          <a:p>
            <a:r>
              <a:rPr lang="en-US"/>
              <a:t>If I think there’s even a small likelihood attackers have defeated a protection or accomplished persistence—it’s an easy call to rest the box where I saw it. And the process scales. If I had to reset hundreds, I have confidence that can be done. </a:t>
            </a:r>
            <a:br>
              <a:rPr lang="en-US"/>
            </a:br>
            <a:br>
              <a:rPr lang="en-US"/>
            </a:br>
            <a:r>
              <a:rPr lang="en-US"/>
              <a:t>I used this option twice in 2025.</a:t>
            </a:r>
          </a:p>
        </p:txBody>
      </p:sp>
      <p:sp>
        <p:nvSpPr>
          <p:cNvPr id="4" name="Slide Number Placeholder 3"/>
          <p:cNvSpPr>
            <a:spLocks noGrp="1"/>
          </p:cNvSpPr>
          <p:nvPr>
            <p:ph type="sldNum" sz="quarter" idx="5"/>
          </p:nvPr>
        </p:nvSpPr>
        <p:spPr/>
        <p:txBody>
          <a:bodyPr/>
          <a:lstStyle/>
          <a:p>
            <a:fld id="{10E133B1-ACB3-43FA-A87A-276BAD421325}" type="slidenum">
              <a:rPr lang="en-US" smtClean="0"/>
              <a:t>16</a:t>
            </a:fld>
            <a:endParaRPr lang="en-US"/>
          </a:p>
        </p:txBody>
      </p:sp>
    </p:spTree>
    <p:extLst>
      <p:ext uri="{BB962C8B-B14F-4D97-AF65-F5344CB8AC3E}">
        <p14:creationId xmlns:p14="http://schemas.microsoft.com/office/powerpoint/2010/main" val="40724159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console is giving you feedback about how well your collection of endpoints is tracking the constantly-changing set of configs and signatures. Assuming it’s all healthy is hazardous—this needs ongoing attention.</a:t>
            </a:r>
          </a:p>
        </p:txBody>
      </p:sp>
      <p:sp>
        <p:nvSpPr>
          <p:cNvPr id="4" name="Slide Number Placeholder 3"/>
          <p:cNvSpPr>
            <a:spLocks noGrp="1"/>
          </p:cNvSpPr>
          <p:nvPr>
            <p:ph type="sldNum" sz="quarter" idx="5"/>
          </p:nvPr>
        </p:nvSpPr>
        <p:spPr/>
        <p:txBody>
          <a:bodyPr/>
          <a:lstStyle/>
          <a:p>
            <a:fld id="{10E133B1-ACB3-43FA-A87A-276BAD421325}" type="slidenum">
              <a:rPr lang="en-US" smtClean="0"/>
              <a:t>17</a:t>
            </a:fld>
            <a:endParaRPr lang="en-US"/>
          </a:p>
        </p:txBody>
      </p:sp>
    </p:spTree>
    <p:extLst>
      <p:ext uri="{BB962C8B-B14F-4D97-AF65-F5344CB8AC3E}">
        <p14:creationId xmlns:p14="http://schemas.microsoft.com/office/powerpoint/2010/main" val="13058008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talking about this before we built it, I appealed to the idea that the protection needs to go with us to where the work is happening.</a:t>
            </a:r>
          </a:p>
          <a:p>
            <a:endParaRPr lang="en-US"/>
          </a:p>
          <a:p>
            <a:r>
              <a:rPr lang="en-US"/>
              <a:t>Most Modern thing: Relying on a sheet metal box in your closet to protect you does not reflect the modern work environment for many of us.</a:t>
            </a:r>
          </a:p>
          <a:p>
            <a:endParaRPr lang="en-US"/>
          </a:p>
          <a:p>
            <a:r>
              <a:rPr lang="en-US"/>
              <a:t>Project Galileo from Cloudflare provided us state-of-the-art protection tools for zero dollars. Run and apply if you have not done so yet.</a:t>
            </a:r>
          </a:p>
        </p:txBody>
      </p:sp>
      <p:sp>
        <p:nvSpPr>
          <p:cNvPr id="4" name="Slide Number Placeholder 3"/>
          <p:cNvSpPr>
            <a:spLocks noGrp="1"/>
          </p:cNvSpPr>
          <p:nvPr>
            <p:ph type="sldNum" sz="quarter" idx="5"/>
          </p:nvPr>
        </p:nvSpPr>
        <p:spPr/>
        <p:txBody>
          <a:bodyPr/>
          <a:lstStyle/>
          <a:p>
            <a:fld id="{10E133B1-ACB3-43FA-A87A-276BAD421325}" type="slidenum">
              <a:rPr lang="en-US" smtClean="0"/>
              <a:t>18</a:t>
            </a:fld>
            <a:endParaRPr lang="en-US"/>
          </a:p>
        </p:txBody>
      </p:sp>
    </p:spTree>
    <p:extLst>
      <p:ext uri="{BB962C8B-B14F-4D97-AF65-F5344CB8AC3E}">
        <p14:creationId xmlns:p14="http://schemas.microsoft.com/office/powerpoint/2010/main" val="23638305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Child safeguarding is at the core of what we do. We use this state-of-the-art tech from Cloudflare to protect kids from being exposed to inappropriate content online when they work with us.</a:t>
            </a:r>
          </a:p>
          <a:p>
            <a:endParaRPr lang="en-US"/>
          </a:p>
          <a:p>
            <a:r>
              <a:rPr lang="en-US"/>
              <a:t>The malware protection is a powerful side benefit. Blocking new domains is a superpower.</a:t>
            </a:r>
          </a:p>
        </p:txBody>
      </p:sp>
      <p:sp>
        <p:nvSpPr>
          <p:cNvPr id="4" name="Slide Number Placeholder 3"/>
          <p:cNvSpPr>
            <a:spLocks noGrp="1"/>
          </p:cNvSpPr>
          <p:nvPr>
            <p:ph type="sldNum" sz="quarter" idx="5"/>
          </p:nvPr>
        </p:nvSpPr>
        <p:spPr/>
        <p:txBody>
          <a:bodyPr/>
          <a:lstStyle/>
          <a:p>
            <a:fld id="{10E133B1-ACB3-43FA-A87A-276BAD421325}" type="slidenum">
              <a:rPr lang="en-US" smtClean="0"/>
              <a:t>19</a:t>
            </a:fld>
            <a:endParaRPr lang="en-US"/>
          </a:p>
        </p:txBody>
      </p:sp>
    </p:spTree>
    <p:extLst>
      <p:ext uri="{BB962C8B-B14F-4D97-AF65-F5344CB8AC3E}">
        <p14:creationId xmlns:p14="http://schemas.microsoft.com/office/powerpoint/2010/main" val="38636348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trap for a lot of shops is to set the tools up and never really inspect the outputs to confirm you are getting the desired outcomes. Pertinent questions we assess ongoing include:</a:t>
            </a:r>
          </a:p>
          <a:p>
            <a:endParaRPr lang="en-US"/>
          </a:p>
          <a:p>
            <a:r>
              <a:rPr lang="en-US"/>
              <a:t>What are we blocking?</a:t>
            </a:r>
          </a:p>
          <a:p>
            <a:r>
              <a:rPr lang="en-US"/>
              <a:t>Do we see legitimate apps being blocked?</a:t>
            </a:r>
          </a:p>
          <a:p>
            <a:r>
              <a:rPr lang="en-US"/>
              <a:t>How does it differ between staff and youth computers?</a:t>
            </a:r>
          </a:p>
          <a:p>
            <a:r>
              <a:rPr lang="en-US"/>
              <a:t>Is there a service/experience impact to this control?</a:t>
            </a:r>
          </a:p>
          <a:p>
            <a:endParaRPr lang="en-US"/>
          </a:p>
          <a:p>
            <a:r>
              <a:rPr lang="en-US"/>
              <a:t>Bonus value in Digital Experience (DEX) tests </a:t>
            </a:r>
          </a:p>
          <a:p>
            <a:r>
              <a:rPr lang="en-US"/>
              <a:t>How much would it help you if you could understand the peak (95%ile) and average (50%ile) load across a selection of resources you rely on? Isolate effects by geography?</a:t>
            </a:r>
          </a:p>
        </p:txBody>
      </p:sp>
      <p:sp>
        <p:nvSpPr>
          <p:cNvPr id="4" name="Slide Number Placeholder 3"/>
          <p:cNvSpPr>
            <a:spLocks noGrp="1"/>
          </p:cNvSpPr>
          <p:nvPr>
            <p:ph type="sldNum" sz="quarter" idx="5"/>
          </p:nvPr>
        </p:nvSpPr>
        <p:spPr/>
        <p:txBody>
          <a:bodyPr/>
          <a:lstStyle/>
          <a:p>
            <a:fld id="{10E133B1-ACB3-43FA-A87A-276BAD421325}" type="slidenum">
              <a:rPr lang="en-US" smtClean="0"/>
              <a:t>20</a:t>
            </a:fld>
            <a:endParaRPr lang="en-US"/>
          </a:p>
        </p:txBody>
      </p:sp>
    </p:spTree>
    <p:extLst>
      <p:ext uri="{BB962C8B-B14F-4D97-AF65-F5344CB8AC3E}">
        <p14:creationId xmlns:p14="http://schemas.microsoft.com/office/powerpoint/2010/main" val="11290540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appealing to the two-vowel buzzword that is so very popular, there are tremendous opportunities to streamline and then automate your incident response actions.</a:t>
            </a:r>
          </a:p>
          <a:p>
            <a:endParaRPr lang="en-US" dirty="0"/>
          </a:p>
          <a:p>
            <a:r>
              <a:rPr lang="en-US" dirty="0"/>
              <a:t>Log analytics is the pivot for all that work. When you can analyze events in the log, rules can fire when conditions are met or thresholds are exceeded. This focuses your scarce attention on the weird stuff, not the routine stuff. Between M365, Entra, Dynamics 365, and Cloudflare we log </a:t>
            </a:r>
          </a:p>
        </p:txBody>
      </p:sp>
      <p:sp>
        <p:nvSpPr>
          <p:cNvPr id="4" name="Slide Number Placeholder 3"/>
          <p:cNvSpPr>
            <a:spLocks noGrp="1"/>
          </p:cNvSpPr>
          <p:nvPr>
            <p:ph type="sldNum" sz="quarter" idx="5"/>
          </p:nvPr>
        </p:nvSpPr>
        <p:spPr/>
        <p:txBody>
          <a:bodyPr/>
          <a:lstStyle/>
          <a:p>
            <a:fld id="{10E133B1-ACB3-43FA-A87A-276BAD421325}" type="slidenum">
              <a:rPr lang="en-US" smtClean="0"/>
              <a:t>21</a:t>
            </a:fld>
            <a:endParaRPr lang="en-US"/>
          </a:p>
        </p:txBody>
      </p:sp>
    </p:spTree>
    <p:extLst>
      <p:ext uri="{BB962C8B-B14F-4D97-AF65-F5344CB8AC3E}">
        <p14:creationId xmlns:p14="http://schemas.microsoft.com/office/powerpoint/2010/main" val="20977913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5% of the time remediation actions are taken, that is me acting.</a:t>
            </a:r>
          </a:p>
          <a:p>
            <a:endParaRPr lang="en-US"/>
          </a:p>
          <a:p>
            <a:r>
              <a:rPr lang="en-US"/>
              <a:t>If I look at any situation that I consider an “investigation” I use the case feature to document my findings for my team (which right now is me). An example would be the events leading to a decision to reset an endpoint computer.</a:t>
            </a:r>
          </a:p>
        </p:txBody>
      </p:sp>
      <p:sp>
        <p:nvSpPr>
          <p:cNvPr id="4" name="Slide Number Placeholder 3"/>
          <p:cNvSpPr>
            <a:spLocks noGrp="1"/>
          </p:cNvSpPr>
          <p:nvPr>
            <p:ph type="sldNum" sz="quarter" idx="5"/>
          </p:nvPr>
        </p:nvSpPr>
        <p:spPr/>
        <p:txBody>
          <a:bodyPr/>
          <a:lstStyle/>
          <a:p>
            <a:fld id="{10E133B1-ACB3-43FA-A87A-276BAD421325}" type="slidenum">
              <a:rPr lang="en-US" smtClean="0"/>
              <a:t>22</a:t>
            </a:fld>
            <a:endParaRPr lang="en-US"/>
          </a:p>
        </p:txBody>
      </p:sp>
    </p:spTree>
    <p:extLst>
      <p:ext uri="{BB962C8B-B14F-4D97-AF65-F5344CB8AC3E}">
        <p14:creationId xmlns:p14="http://schemas.microsoft.com/office/powerpoint/2010/main" val="36887083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Think of security operations as the entire set of processes you have limiting the adverse consequences of attacks. Classically this has been seen as an outsource/MSP opportunity.</a:t>
            </a:r>
          </a:p>
          <a:p>
            <a:endParaRPr lang="en-US"/>
          </a:p>
          <a:p>
            <a:r>
              <a:rPr lang="en-US"/>
              <a:t>You ought to be asking how can we use automation to get the work done with fewer people.</a:t>
            </a:r>
          </a:p>
        </p:txBody>
      </p:sp>
      <p:sp>
        <p:nvSpPr>
          <p:cNvPr id="4" name="Slide Number Placeholder 3"/>
          <p:cNvSpPr>
            <a:spLocks noGrp="1"/>
          </p:cNvSpPr>
          <p:nvPr>
            <p:ph type="sldNum" sz="quarter" idx="5"/>
          </p:nvPr>
        </p:nvSpPr>
        <p:spPr/>
        <p:txBody>
          <a:bodyPr/>
          <a:lstStyle/>
          <a:p>
            <a:fld id="{10E133B1-ACB3-43FA-A87A-276BAD421325}" type="slidenum">
              <a:rPr lang="en-US" smtClean="0"/>
              <a:t>23</a:t>
            </a:fld>
            <a:endParaRPr lang="en-US"/>
          </a:p>
        </p:txBody>
      </p:sp>
    </p:spTree>
    <p:extLst>
      <p:ext uri="{BB962C8B-B14F-4D97-AF65-F5344CB8AC3E}">
        <p14:creationId xmlns:p14="http://schemas.microsoft.com/office/powerpoint/2010/main" val="18853411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Biggest two value points for us: Since WARP is handling network protection, the Fortinet stuff has a vastly reduced job:</a:t>
            </a:r>
          </a:p>
          <a:p>
            <a:pPr marL="171450" indent="-171450">
              <a:buFont typeface="Arial" panose="020B0604020202020204" pitchFamily="34" charset="0"/>
              <a:buChar char="•"/>
            </a:pPr>
            <a:r>
              <a:rPr lang="en-US" dirty="0"/>
              <a:t>Hand out DHCP</a:t>
            </a:r>
          </a:p>
          <a:p>
            <a:pPr marL="171450" indent="-171450">
              <a:buFont typeface="Arial" panose="020B0604020202020204" pitchFamily="34" charset="0"/>
              <a:buChar char="•"/>
            </a:pPr>
            <a:r>
              <a:rPr lang="en-US" dirty="0"/>
              <a:t>NAT</a:t>
            </a:r>
          </a:p>
          <a:p>
            <a:pPr marL="171450" indent="-171450">
              <a:buFont typeface="Arial" panose="020B0604020202020204" pitchFamily="34" charset="0"/>
              <a:buChar char="•"/>
            </a:pPr>
            <a:r>
              <a:rPr lang="en-US" dirty="0"/>
              <a:t>Balance two upstream internet connections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One globally-managed service with 72 service instances</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err="1"/>
              <a:t>Fortianalyzer</a:t>
            </a:r>
            <a:r>
              <a:rPr lang="en-US" dirty="0"/>
              <a:t> is more operations-critical (is service impaired) than security critical because of that design</a:t>
            </a:r>
          </a:p>
          <a:p>
            <a:pPr marL="0" indent="0">
              <a:buFont typeface="Arial" panose="020B0604020202020204" pitchFamily="34" charset="0"/>
              <a:buNone/>
            </a:pPr>
            <a:endParaRPr lang="en-US" dirty="0"/>
          </a:p>
          <a:p>
            <a:pPr marL="0" indent="0">
              <a:buFont typeface="Arial" panose="020B0604020202020204" pitchFamily="34" charset="0"/>
              <a:buNone/>
            </a:pPr>
            <a:r>
              <a:rPr lang="en-US" dirty="0" err="1"/>
              <a:t>Microsegmentation</a:t>
            </a:r>
            <a:r>
              <a:rPr lang="en-US" dirty="0"/>
              <a:t> is a huge value point – consequence of a modernized design construct: the security being factored off into the WARP client allows </a:t>
            </a:r>
            <a:r>
              <a:rPr lang="en-US" dirty="0" err="1"/>
              <a:t>Fortianalyzer</a:t>
            </a:r>
            <a:r>
              <a:rPr lang="en-US" dirty="0"/>
              <a:t> to orient at proactive service notifications</a:t>
            </a:r>
          </a:p>
        </p:txBody>
      </p:sp>
      <p:sp>
        <p:nvSpPr>
          <p:cNvPr id="4" name="Slide Number Placeholder 3"/>
          <p:cNvSpPr>
            <a:spLocks noGrp="1"/>
          </p:cNvSpPr>
          <p:nvPr>
            <p:ph type="sldNum" sz="quarter" idx="5"/>
          </p:nvPr>
        </p:nvSpPr>
        <p:spPr/>
        <p:txBody>
          <a:bodyPr/>
          <a:lstStyle/>
          <a:p>
            <a:fld id="{10E133B1-ACB3-43FA-A87A-276BAD421325}" type="slidenum">
              <a:rPr lang="en-US" smtClean="0"/>
              <a:t>24</a:t>
            </a:fld>
            <a:endParaRPr lang="en-US"/>
          </a:p>
        </p:txBody>
      </p:sp>
    </p:spTree>
    <p:extLst>
      <p:ext uri="{BB962C8B-B14F-4D97-AF65-F5344CB8AC3E}">
        <p14:creationId xmlns:p14="http://schemas.microsoft.com/office/powerpoint/2010/main" val="10284906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E133B1-ACB3-43FA-A87A-276BAD421325}" type="slidenum">
              <a:rPr lang="en-US" smtClean="0"/>
              <a:t>25</a:t>
            </a:fld>
            <a:endParaRPr lang="en-US"/>
          </a:p>
        </p:txBody>
      </p:sp>
    </p:spTree>
    <p:extLst>
      <p:ext uri="{BB962C8B-B14F-4D97-AF65-F5344CB8AC3E}">
        <p14:creationId xmlns:p14="http://schemas.microsoft.com/office/powerpoint/2010/main" val="38280390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Easy to highlight the value of the robust, well-managed infrastructure, I’m skipping all the good dashboards showing this stays up and alerts us when it doesn’t, etc.</a:t>
            </a:r>
          </a:p>
          <a:p>
            <a:endParaRPr lang="en-US" dirty="0"/>
          </a:p>
          <a:p>
            <a:r>
              <a:rPr lang="en-US" dirty="0"/>
              <a:t>Factoring network security away (TYVM Cloudflare) let us buy much smaller gear, saving $ to use for more impact</a:t>
            </a:r>
          </a:p>
          <a:p>
            <a:endParaRPr lang="en-US" dirty="0"/>
          </a:p>
          <a:p>
            <a:r>
              <a:rPr lang="en-US" dirty="0"/>
              <a:t>Entra integration meant that the full power of Sentinel is available when we looked to improve sign-on experience</a:t>
            </a:r>
          </a:p>
          <a:p>
            <a:pPr marL="171450" indent="-171450">
              <a:buFont typeface="Arial" panose="020B0604020202020204" pitchFamily="34" charset="0"/>
              <a:buChar char="•"/>
            </a:pPr>
            <a:r>
              <a:rPr lang="en-US" dirty="0"/>
              <a:t>We had robust analytics</a:t>
            </a:r>
          </a:p>
          <a:p>
            <a:pPr marL="171450" indent="-171450">
              <a:buFont typeface="Arial" panose="020B0604020202020204" pitchFamily="34" charset="0"/>
              <a:buChar char="•"/>
            </a:pPr>
            <a:r>
              <a:rPr lang="en-US" dirty="0"/>
              <a:t>No need to MFA a WLAN sign-in, attackers on the other side of the planet can’t spoof it</a:t>
            </a:r>
          </a:p>
          <a:p>
            <a:pPr marL="171450" indent="-171450">
              <a:buFont typeface="Arial" panose="020B0604020202020204" pitchFamily="34" charset="0"/>
              <a:buChar char="•"/>
            </a:pPr>
            <a:r>
              <a:rPr lang="en-US" dirty="0"/>
              <a:t>Made changes (disabled MFA for WLAN signins) and saw the needle move</a:t>
            </a:r>
          </a:p>
          <a:p>
            <a:pPr marL="171450" indent="-171450">
              <a:buFont typeface="Arial" panose="020B0604020202020204" pitchFamily="34" charset="0"/>
              <a:buChar char="•"/>
            </a:pPr>
            <a:r>
              <a:rPr lang="en-US" dirty="0"/>
              <a:t>Our staff will cheerfully suffer and not let us know about it, so this was compelling</a:t>
            </a:r>
          </a:p>
        </p:txBody>
      </p:sp>
      <p:sp>
        <p:nvSpPr>
          <p:cNvPr id="4" name="Slide Number Placeholder 3"/>
          <p:cNvSpPr>
            <a:spLocks noGrp="1"/>
          </p:cNvSpPr>
          <p:nvPr>
            <p:ph type="sldNum" sz="quarter" idx="5"/>
          </p:nvPr>
        </p:nvSpPr>
        <p:spPr/>
        <p:txBody>
          <a:bodyPr/>
          <a:lstStyle/>
          <a:p>
            <a:fld id="{10E133B1-ACB3-43FA-A87A-276BAD421325}" type="slidenum">
              <a:rPr lang="en-US" smtClean="0"/>
              <a:t>26</a:t>
            </a:fld>
            <a:endParaRPr lang="en-US"/>
          </a:p>
        </p:txBody>
      </p:sp>
    </p:spTree>
    <p:extLst>
      <p:ext uri="{BB962C8B-B14F-4D97-AF65-F5344CB8AC3E}">
        <p14:creationId xmlns:p14="http://schemas.microsoft.com/office/powerpoint/2010/main" val="2059119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pic>
        <p:nvPicPr>
          <p:cNvPr id="7" name="Google Shape;10;p2">
            <a:extLst>
              <a:ext uri="{FF2B5EF4-FFF2-40B4-BE49-F238E27FC236}">
                <a16:creationId xmlns:a16="http://schemas.microsoft.com/office/drawing/2014/main" id="{F5A070A2-24F8-CC7A-2E8A-832F5EBD055D}"/>
              </a:ext>
            </a:extLst>
          </p:cNvPr>
          <p:cNvPicPr preferRelativeResize="0"/>
          <p:nvPr userDrawn="1"/>
        </p:nvPicPr>
        <p:blipFill rotWithShape="1">
          <a:blip r:embed="rId2">
            <a:alphaModFix/>
          </a:blip>
          <a:srcRect t="5011" b="5020"/>
          <a:stretch/>
        </p:blipFill>
        <p:spPr>
          <a:xfrm>
            <a:off x="0" y="1"/>
            <a:ext cx="12192000" cy="6857999"/>
          </a:xfrm>
          <a:prstGeom prst="rect">
            <a:avLst/>
          </a:prstGeom>
          <a:noFill/>
          <a:ln>
            <a:noFill/>
          </a:ln>
        </p:spPr>
      </p:pic>
      <p:pic>
        <p:nvPicPr>
          <p:cNvPr id="8" name="Google Shape;15;p2">
            <a:extLst>
              <a:ext uri="{FF2B5EF4-FFF2-40B4-BE49-F238E27FC236}">
                <a16:creationId xmlns:a16="http://schemas.microsoft.com/office/drawing/2014/main" id="{E395B288-122B-5BC3-C5C4-E0832353D340}"/>
              </a:ext>
            </a:extLst>
          </p:cNvPr>
          <p:cNvPicPr preferRelativeResize="0"/>
          <p:nvPr userDrawn="1"/>
        </p:nvPicPr>
        <p:blipFill>
          <a:blip r:embed="rId3">
            <a:alphaModFix/>
          </a:blip>
          <a:stretch>
            <a:fillRect/>
          </a:stretch>
        </p:blipFill>
        <p:spPr>
          <a:xfrm>
            <a:off x="4555950" y="1259614"/>
            <a:ext cx="3080100" cy="858933"/>
          </a:xfrm>
          <a:prstGeom prst="rect">
            <a:avLst/>
          </a:prstGeom>
          <a:noFill/>
          <a:ln>
            <a:noFill/>
          </a:ln>
        </p:spPr>
      </p:pic>
      <p:sp>
        <p:nvSpPr>
          <p:cNvPr id="2" name="Title 1">
            <a:extLst>
              <a:ext uri="{FF2B5EF4-FFF2-40B4-BE49-F238E27FC236}">
                <a16:creationId xmlns:a16="http://schemas.microsoft.com/office/drawing/2014/main" id="{D01FE8BA-8E83-51B9-6414-0D77BB519378}"/>
              </a:ext>
            </a:extLst>
          </p:cNvPr>
          <p:cNvSpPr>
            <a:spLocks noGrp="1"/>
          </p:cNvSpPr>
          <p:nvPr>
            <p:ph type="ctrTitle"/>
          </p:nvPr>
        </p:nvSpPr>
        <p:spPr>
          <a:xfrm>
            <a:off x="1524000" y="1649134"/>
            <a:ext cx="9144000" cy="2387600"/>
          </a:xfrm>
        </p:spPr>
        <p:txBody>
          <a:bodyPr anchor="b">
            <a:normAutofit/>
          </a:bodyPr>
          <a:lstStyle>
            <a:lvl1pPr algn="ctr">
              <a:defRPr sz="5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A46F6FE3-41C5-5626-EDF0-8161F094EE62}"/>
              </a:ext>
            </a:extLst>
          </p:cNvPr>
          <p:cNvSpPr>
            <a:spLocks noGrp="1"/>
          </p:cNvSpPr>
          <p:nvPr>
            <p:ph type="subTitle" idx="1"/>
          </p:nvPr>
        </p:nvSpPr>
        <p:spPr>
          <a:xfrm>
            <a:off x="1524000" y="4409073"/>
            <a:ext cx="9144000" cy="1375497"/>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9" name="Google Shape;14;p2">
            <a:extLst>
              <a:ext uri="{FF2B5EF4-FFF2-40B4-BE49-F238E27FC236}">
                <a16:creationId xmlns:a16="http://schemas.microsoft.com/office/drawing/2014/main" id="{53692A26-2007-0B13-0330-89E7BD9DC70C}"/>
              </a:ext>
            </a:extLst>
          </p:cNvPr>
          <p:cNvCxnSpPr/>
          <p:nvPr userDrawn="1"/>
        </p:nvCxnSpPr>
        <p:spPr>
          <a:xfrm>
            <a:off x="3623250" y="4222903"/>
            <a:ext cx="4945500" cy="0"/>
          </a:xfrm>
          <a:prstGeom prst="straightConnector1">
            <a:avLst/>
          </a:prstGeom>
          <a:noFill/>
          <a:ln w="9525" cap="flat" cmpd="sng">
            <a:solidFill>
              <a:srgbClr val="FFFFFF"/>
            </a:solidFill>
            <a:prstDash val="solid"/>
            <a:round/>
            <a:headEnd type="none" w="med" len="med"/>
            <a:tailEnd type="none" w="med" len="med"/>
          </a:ln>
        </p:spPr>
      </p:cxnSp>
    </p:spTree>
    <p:extLst>
      <p:ext uri="{BB962C8B-B14F-4D97-AF65-F5344CB8AC3E}">
        <p14:creationId xmlns:p14="http://schemas.microsoft.com/office/powerpoint/2010/main" val="28802305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EE7DF-2073-F2DE-4499-88A604BC7B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B8ECF4-9E7F-2216-5063-A89C5768FC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FF09D964-205D-75B2-304D-1F56D5B1F11C}"/>
              </a:ext>
            </a:extLst>
          </p:cNvPr>
          <p:cNvSpPr>
            <a:spLocks noGrp="1"/>
          </p:cNvSpPr>
          <p:nvPr>
            <p:ph type="sldNum" sz="quarter" idx="12"/>
          </p:nvPr>
        </p:nvSpPr>
        <p:spPr/>
        <p:txBody>
          <a:bodyPr/>
          <a:lstStyle/>
          <a:p>
            <a:fld id="{E7F5CDC8-4C69-3A42-B83C-3417CCCF98AD}" type="slidenum">
              <a:rPr lang="en-US" smtClean="0"/>
              <a:t>‹#›</a:t>
            </a:fld>
            <a:endParaRPr lang="en-US"/>
          </a:p>
        </p:txBody>
      </p:sp>
      <p:cxnSp>
        <p:nvCxnSpPr>
          <p:cNvPr id="7" name="Google Shape;54;p12">
            <a:extLst>
              <a:ext uri="{FF2B5EF4-FFF2-40B4-BE49-F238E27FC236}">
                <a16:creationId xmlns:a16="http://schemas.microsoft.com/office/drawing/2014/main" id="{341E2E4D-AF55-0FC1-B5A5-33B247346226}"/>
              </a:ext>
            </a:extLst>
          </p:cNvPr>
          <p:cNvCxnSpPr>
            <a:cxnSpLocks/>
          </p:cNvCxnSpPr>
          <p:nvPr userDrawn="1"/>
        </p:nvCxnSpPr>
        <p:spPr>
          <a:xfrm>
            <a:off x="838200" y="1690688"/>
            <a:ext cx="1060174" cy="0"/>
          </a:xfrm>
          <a:prstGeom prst="straightConnector1">
            <a:avLst/>
          </a:prstGeom>
          <a:noFill/>
          <a:ln w="9525" cap="flat" cmpd="sng">
            <a:solidFill>
              <a:srgbClr val="8E195F"/>
            </a:solidFill>
            <a:prstDash val="solid"/>
            <a:round/>
            <a:headEnd type="none" w="sm" len="sm"/>
            <a:tailEnd type="none" w="sm" len="sm"/>
          </a:ln>
        </p:spPr>
      </p:cxnSp>
    </p:spTree>
    <p:extLst>
      <p:ext uri="{BB962C8B-B14F-4D97-AF65-F5344CB8AC3E}">
        <p14:creationId xmlns:p14="http://schemas.microsoft.com/office/powerpoint/2010/main" val="627995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Google Shape;40;p7">
            <a:extLst>
              <a:ext uri="{FF2B5EF4-FFF2-40B4-BE49-F238E27FC236}">
                <a16:creationId xmlns:a16="http://schemas.microsoft.com/office/drawing/2014/main" id="{093787DA-6694-1545-597B-6302B9F627D0}"/>
              </a:ext>
            </a:extLst>
          </p:cNvPr>
          <p:cNvPicPr preferRelativeResize="0"/>
          <p:nvPr userDrawn="1"/>
        </p:nvPicPr>
        <p:blipFill rotWithShape="1">
          <a:blip r:embed="rId2">
            <a:alphaModFix amt="50000"/>
          </a:blip>
          <a:srcRect l="-4659" t="-3720" r="6974" b="17795"/>
          <a:stretch/>
        </p:blipFill>
        <p:spPr>
          <a:xfrm>
            <a:off x="4381165" y="0"/>
            <a:ext cx="7810835" cy="6858000"/>
          </a:xfrm>
          <a:prstGeom prst="rect">
            <a:avLst/>
          </a:prstGeom>
          <a:noFill/>
          <a:ln>
            <a:noFill/>
          </a:ln>
        </p:spPr>
      </p:pic>
      <p:sp>
        <p:nvSpPr>
          <p:cNvPr id="2" name="Title 1">
            <a:extLst>
              <a:ext uri="{FF2B5EF4-FFF2-40B4-BE49-F238E27FC236}">
                <a16:creationId xmlns:a16="http://schemas.microsoft.com/office/drawing/2014/main" id="{598A3CDA-6314-09B3-D2AD-0B6820FF22CA}"/>
              </a:ext>
            </a:extLst>
          </p:cNvPr>
          <p:cNvSpPr>
            <a:spLocks noGrp="1"/>
          </p:cNvSpPr>
          <p:nvPr>
            <p:ph type="title"/>
          </p:nvPr>
        </p:nvSpPr>
        <p:spPr>
          <a:xfrm>
            <a:off x="831850" y="1709738"/>
            <a:ext cx="10515600" cy="2852737"/>
          </a:xfrm>
        </p:spPr>
        <p:txBody>
          <a:bodyPr anchor="b"/>
          <a:lstStyle>
            <a:lvl1pPr>
              <a:defRPr sz="6000">
                <a:solidFill>
                  <a:schemeClr val="accent5"/>
                </a:solidFill>
              </a:defRPr>
            </a:lvl1pPr>
          </a:lstStyle>
          <a:p>
            <a:r>
              <a:rPr lang="en-US"/>
              <a:t>Click to edit Master title style</a:t>
            </a:r>
          </a:p>
        </p:txBody>
      </p:sp>
      <p:sp>
        <p:nvSpPr>
          <p:cNvPr id="3" name="Text Placeholder 2">
            <a:extLst>
              <a:ext uri="{FF2B5EF4-FFF2-40B4-BE49-F238E27FC236}">
                <a16:creationId xmlns:a16="http://schemas.microsoft.com/office/drawing/2014/main" id="{856B8690-3217-11F8-6689-B5BB8CA97D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EF423727-A8A1-24C7-1E50-DAF468C9CACF}"/>
              </a:ext>
            </a:extLst>
          </p:cNvPr>
          <p:cNvSpPr>
            <a:spLocks noGrp="1"/>
          </p:cNvSpPr>
          <p:nvPr>
            <p:ph type="sldNum" sz="quarter" idx="12"/>
          </p:nvPr>
        </p:nvSpPr>
        <p:spPr/>
        <p:txBody>
          <a:bodyPr/>
          <a:lstStyle/>
          <a:p>
            <a:fld id="{E7F5CDC8-4C69-3A42-B83C-3417CCCF98AD}" type="slidenum">
              <a:rPr lang="en-US" smtClean="0"/>
              <a:t>‹#›</a:t>
            </a:fld>
            <a:endParaRPr lang="en-US"/>
          </a:p>
        </p:txBody>
      </p:sp>
      <p:pic>
        <p:nvPicPr>
          <p:cNvPr id="8" name="Google Shape;42;p7">
            <a:extLst>
              <a:ext uri="{FF2B5EF4-FFF2-40B4-BE49-F238E27FC236}">
                <a16:creationId xmlns:a16="http://schemas.microsoft.com/office/drawing/2014/main" id="{132A470E-FD7F-E6D2-590C-CDCB0FF7C739}"/>
              </a:ext>
            </a:extLst>
          </p:cNvPr>
          <p:cNvPicPr preferRelativeResize="0"/>
          <p:nvPr userDrawn="1"/>
        </p:nvPicPr>
        <p:blipFill>
          <a:blip r:embed="rId3">
            <a:alphaModFix/>
          </a:blip>
          <a:stretch>
            <a:fillRect/>
          </a:stretch>
        </p:blipFill>
        <p:spPr>
          <a:xfrm>
            <a:off x="4707018" y="6307147"/>
            <a:ext cx="2765264" cy="291633"/>
          </a:xfrm>
          <a:prstGeom prst="rect">
            <a:avLst/>
          </a:prstGeom>
          <a:noFill/>
          <a:ln>
            <a:noFill/>
          </a:ln>
        </p:spPr>
      </p:pic>
    </p:spTree>
    <p:extLst>
      <p:ext uri="{BB962C8B-B14F-4D97-AF65-F5344CB8AC3E}">
        <p14:creationId xmlns:p14="http://schemas.microsoft.com/office/powerpoint/2010/main" val="165315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pic>
        <p:nvPicPr>
          <p:cNvPr id="7" name="Google Shape;40;p7">
            <a:extLst>
              <a:ext uri="{FF2B5EF4-FFF2-40B4-BE49-F238E27FC236}">
                <a16:creationId xmlns:a16="http://schemas.microsoft.com/office/drawing/2014/main" id="{093787DA-6694-1545-597B-6302B9F627D0}"/>
              </a:ext>
            </a:extLst>
          </p:cNvPr>
          <p:cNvPicPr preferRelativeResize="0"/>
          <p:nvPr userDrawn="1"/>
        </p:nvPicPr>
        <p:blipFill rotWithShape="1">
          <a:blip r:embed="rId2">
            <a:alphaModFix amt="50000"/>
          </a:blip>
          <a:srcRect l="-4659" t="-3720" r="6974" b="17795"/>
          <a:stretch/>
        </p:blipFill>
        <p:spPr>
          <a:xfrm>
            <a:off x="4381165" y="0"/>
            <a:ext cx="7810835" cy="6858000"/>
          </a:xfrm>
          <a:prstGeom prst="rect">
            <a:avLst/>
          </a:prstGeom>
          <a:noFill/>
          <a:ln>
            <a:noFill/>
          </a:ln>
        </p:spPr>
      </p:pic>
      <p:sp>
        <p:nvSpPr>
          <p:cNvPr id="2" name="Title 1">
            <a:extLst>
              <a:ext uri="{FF2B5EF4-FFF2-40B4-BE49-F238E27FC236}">
                <a16:creationId xmlns:a16="http://schemas.microsoft.com/office/drawing/2014/main" id="{598A3CDA-6314-09B3-D2AD-0B6820FF22CA}"/>
              </a:ext>
            </a:extLst>
          </p:cNvPr>
          <p:cNvSpPr>
            <a:spLocks noGrp="1"/>
          </p:cNvSpPr>
          <p:nvPr>
            <p:ph type="title"/>
          </p:nvPr>
        </p:nvSpPr>
        <p:spPr>
          <a:xfrm>
            <a:off x="831850" y="1709738"/>
            <a:ext cx="10515600" cy="2852737"/>
          </a:xfrm>
        </p:spPr>
        <p:txBody>
          <a:bodyPr anchor="b">
            <a:noAutofit/>
          </a:bodyPr>
          <a:lstStyle>
            <a:lvl1pPr>
              <a:defRPr sz="9600">
                <a:solidFill>
                  <a:schemeClr val="accent5"/>
                </a:solidFill>
              </a:defRPr>
            </a:lvl1pPr>
          </a:lstStyle>
          <a:p>
            <a:r>
              <a:rPr lang="en-US"/>
              <a:t>Click to edit Master title style</a:t>
            </a:r>
          </a:p>
        </p:txBody>
      </p:sp>
      <p:sp>
        <p:nvSpPr>
          <p:cNvPr id="6" name="Slide Number Placeholder 5">
            <a:extLst>
              <a:ext uri="{FF2B5EF4-FFF2-40B4-BE49-F238E27FC236}">
                <a16:creationId xmlns:a16="http://schemas.microsoft.com/office/drawing/2014/main" id="{EF423727-A8A1-24C7-1E50-DAF468C9CACF}"/>
              </a:ext>
            </a:extLst>
          </p:cNvPr>
          <p:cNvSpPr>
            <a:spLocks noGrp="1"/>
          </p:cNvSpPr>
          <p:nvPr>
            <p:ph type="sldNum" sz="quarter" idx="12"/>
          </p:nvPr>
        </p:nvSpPr>
        <p:spPr/>
        <p:txBody>
          <a:bodyPr/>
          <a:lstStyle/>
          <a:p>
            <a:fld id="{E7F5CDC8-4C69-3A42-B83C-3417CCCF98AD}" type="slidenum">
              <a:rPr lang="en-US" smtClean="0"/>
              <a:t>‹#›</a:t>
            </a:fld>
            <a:endParaRPr lang="en-US"/>
          </a:p>
        </p:txBody>
      </p:sp>
      <p:pic>
        <p:nvPicPr>
          <p:cNvPr id="8" name="Google Shape;42;p7">
            <a:extLst>
              <a:ext uri="{FF2B5EF4-FFF2-40B4-BE49-F238E27FC236}">
                <a16:creationId xmlns:a16="http://schemas.microsoft.com/office/drawing/2014/main" id="{132A470E-FD7F-E6D2-590C-CDCB0FF7C739}"/>
              </a:ext>
            </a:extLst>
          </p:cNvPr>
          <p:cNvPicPr preferRelativeResize="0"/>
          <p:nvPr userDrawn="1"/>
        </p:nvPicPr>
        <p:blipFill>
          <a:blip r:embed="rId3">
            <a:alphaModFix/>
          </a:blip>
          <a:stretch>
            <a:fillRect/>
          </a:stretch>
        </p:blipFill>
        <p:spPr>
          <a:xfrm>
            <a:off x="4707018" y="6307147"/>
            <a:ext cx="2765264" cy="291633"/>
          </a:xfrm>
          <a:prstGeom prst="rect">
            <a:avLst/>
          </a:prstGeom>
          <a:noFill/>
          <a:ln>
            <a:noFill/>
          </a:ln>
        </p:spPr>
      </p:pic>
    </p:spTree>
    <p:extLst>
      <p:ext uri="{BB962C8B-B14F-4D97-AF65-F5344CB8AC3E}">
        <p14:creationId xmlns:p14="http://schemas.microsoft.com/office/powerpoint/2010/main" val="1807923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B8ECF4-9E7F-2216-5063-A89C5768FC1D}"/>
              </a:ext>
            </a:extLst>
          </p:cNvPr>
          <p:cNvSpPr>
            <a:spLocks noGrp="1"/>
          </p:cNvSpPr>
          <p:nvPr>
            <p:ph idx="1"/>
          </p:nvPr>
        </p:nvSpPr>
        <p:spPr>
          <a:xfrm>
            <a:off x="1458097" y="1997815"/>
            <a:ext cx="9156358" cy="3759629"/>
          </a:xfrm>
          <a:ln w="12700">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FF09D964-205D-75B2-304D-1F56D5B1F11C}"/>
              </a:ext>
            </a:extLst>
          </p:cNvPr>
          <p:cNvSpPr>
            <a:spLocks noGrp="1"/>
          </p:cNvSpPr>
          <p:nvPr>
            <p:ph type="sldNum" sz="quarter" idx="12"/>
          </p:nvPr>
        </p:nvSpPr>
        <p:spPr/>
        <p:txBody>
          <a:bodyPr/>
          <a:lstStyle/>
          <a:p>
            <a:fld id="{E7F5CDC8-4C69-3A42-B83C-3417CCCF98AD}" type="slidenum">
              <a:rPr lang="en-US" smtClean="0"/>
              <a:t>‹#›</a:t>
            </a:fld>
            <a:endParaRPr lang="en-US"/>
          </a:p>
        </p:txBody>
      </p:sp>
      <p:sp>
        <p:nvSpPr>
          <p:cNvPr id="4" name="Rectangle 3">
            <a:extLst>
              <a:ext uri="{FF2B5EF4-FFF2-40B4-BE49-F238E27FC236}">
                <a16:creationId xmlns:a16="http://schemas.microsoft.com/office/drawing/2014/main" id="{5D630363-985F-8DF0-3BCB-E6648240FFA6}"/>
              </a:ext>
            </a:extLst>
          </p:cNvPr>
          <p:cNvSpPr/>
          <p:nvPr userDrawn="1"/>
        </p:nvSpPr>
        <p:spPr>
          <a:xfrm>
            <a:off x="1124465" y="1458097"/>
            <a:ext cx="9873049" cy="454728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0EE7DF-2073-F2DE-4499-88A604BC7B61}"/>
              </a:ext>
            </a:extLst>
          </p:cNvPr>
          <p:cNvSpPr>
            <a:spLocks noGrp="1"/>
          </p:cNvSpPr>
          <p:nvPr>
            <p:ph type="title"/>
          </p:nvPr>
        </p:nvSpPr>
        <p:spPr>
          <a:xfrm>
            <a:off x="1458097" y="1166318"/>
            <a:ext cx="4821195" cy="583557"/>
          </a:xfrm>
          <a:solidFill>
            <a:schemeClr val="bg1"/>
          </a:solidFill>
        </p:spPr>
        <p:txBody>
          <a:bodyPr>
            <a:normAutofit/>
          </a:bodyPr>
          <a:lstStyle>
            <a:lvl1pPr algn="ctr">
              <a:defRPr sz="2800"/>
            </a:lvl1pPr>
          </a:lstStyle>
          <a:p>
            <a:r>
              <a:rPr lang="en-US"/>
              <a:t>Click to edit Master title style</a:t>
            </a:r>
          </a:p>
        </p:txBody>
      </p:sp>
    </p:spTree>
    <p:extLst>
      <p:ext uri="{BB962C8B-B14F-4D97-AF65-F5344CB8AC3E}">
        <p14:creationId xmlns:p14="http://schemas.microsoft.com/office/powerpoint/2010/main" val="2720744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348F9-E85F-A6E2-A205-669FA83ED8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E311DF-C114-2C16-1808-91692D6C18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CC4312E-BDB6-0E5D-9200-651AFA1BD9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6F7C9BD-8661-4433-F3D3-B4F20354E966}"/>
              </a:ext>
            </a:extLst>
          </p:cNvPr>
          <p:cNvSpPr>
            <a:spLocks noGrp="1"/>
          </p:cNvSpPr>
          <p:nvPr>
            <p:ph type="sldNum" sz="quarter" idx="12"/>
          </p:nvPr>
        </p:nvSpPr>
        <p:spPr/>
        <p:txBody>
          <a:bodyPr/>
          <a:lstStyle/>
          <a:p>
            <a:fld id="{E7F5CDC8-4C69-3A42-B83C-3417CCCF98AD}" type="slidenum">
              <a:rPr lang="en-US" smtClean="0"/>
              <a:t>‹#›</a:t>
            </a:fld>
            <a:endParaRPr lang="en-US"/>
          </a:p>
        </p:txBody>
      </p:sp>
      <p:cxnSp>
        <p:nvCxnSpPr>
          <p:cNvPr id="8" name="Google Shape;54;p12">
            <a:extLst>
              <a:ext uri="{FF2B5EF4-FFF2-40B4-BE49-F238E27FC236}">
                <a16:creationId xmlns:a16="http://schemas.microsoft.com/office/drawing/2014/main" id="{2CBD2651-F1D3-D1F5-2CD9-B7326449846E}"/>
              </a:ext>
            </a:extLst>
          </p:cNvPr>
          <p:cNvCxnSpPr>
            <a:cxnSpLocks/>
          </p:cNvCxnSpPr>
          <p:nvPr userDrawn="1"/>
        </p:nvCxnSpPr>
        <p:spPr>
          <a:xfrm>
            <a:off x="838200" y="1690688"/>
            <a:ext cx="1060174" cy="0"/>
          </a:xfrm>
          <a:prstGeom prst="straightConnector1">
            <a:avLst/>
          </a:prstGeom>
          <a:noFill/>
          <a:ln w="9525" cap="flat" cmpd="sng">
            <a:solidFill>
              <a:srgbClr val="8E195F"/>
            </a:solidFill>
            <a:prstDash val="solid"/>
            <a:round/>
            <a:headEnd type="none" w="sm" len="sm"/>
            <a:tailEnd type="none" w="sm" len="sm"/>
          </a:ln>
        </p:spPr>
      </p:cxnSp>
    </p:spTree>
    <p:extLst>
      <p:ext uri="{BB962C8B-B14F-4D97-AF65-F5344CB8AC3E}">
        <p14:creationId xmlns:p14="http://schemas.microsoft.com/office/powerpoint/2010/main" val="1186129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1A483-13DC-5BFA-6660-91CE6AA6A23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CD1EB1F-414C-340A-109C-8E91B03C10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9C6CD5-9241-74A8-2055-6C4F9952C1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3D17B25-0E55-96A8-CE4C-D6A8826B56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F64B50-056A-7F5B-D4AF-883CBC3341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73533283-B9CB-A616-F339-9877E31919C8}"/>
              </a:ext>
            </a:extLst>
          </p:cNvPr>
          <p:cNvSpPr>
            <a:spLocks noGrp="1"/>
          </p:cNvSpPr>
          <p:nvPr>
            <p:ph type="sldNum" sz="quarter" idx="12"/>
          </p:nvPr>
        </p:nvSpPr>
        <p:spPr/>
        <p:txBody>
          <a:bodyPr/>
          <a:lstStyle/>
          <a:p>
            <a:fld id="{E7F5CDC8-4C69-3A42-B83C-3417CCCF98AD}" type="slidenum">
              <a:rPr lang="en-US" smtClean="0"/>
              <a:t>‹#›</a:t>
            </a:fld>
            <a:endParaRPr lang="en-US"/>
          </a:p>
        </p:txBody>
      </p:sp>
      <p:cxnSp>
        <p:nvCxnSpPr>
          <p:cNvPr id="10" name="Google Shape;54;p12">
            <a:extLst>
              <a:ext uri="{FF2B5EF4-FFF2-40B4-BE49-F238E27FC236}">
                <a16:creationId xmlns:a16="http://schemas.microsoft.com/office/drawing/2014/main" id="{E8566633-3E84-22D9-A616-DF92EFA16C82}"/>
              </a:ext>
            </a:extLst>
          </p:cNvPr>
          <p:cNvCxnSpPr>
            <a:cxnSpLocks/>
          </p:cNvCxnSpPr>
          <p:nvPr userDrawn="1"/>
        </p:nvCxnSpPr>
        <p:spPr>
          <a:xfrm>
            <a:off x="838200" y="1690688"/>
            <a:ext cx="1060174" cy="0"/>
          </a:xfrm>
          <a:prstGeom prst="straightConnector1">
            <a:avLst/>
          </a:prstGeom>
          <a:noFill/>
          <a:ln w="9525" cap="flat" cmpd="sng">
            <a:solidFill>
              <a:srgbClr val="8E195F"/>
            </a:solidFill>
            <a:prstDash val="solid"/>
            <a:round/>
            <a:headEnd type="none" w="sm" len="sm"/>
            <a:tailEnd type="none" w="sm" len="sm"/>
          </a:ln>
        </p:spPr>
      </p:cxnSp>
    </p:spTree>
    <p:extLst>
      <p:ext uri="{BB962C8B-B14F-4D97-AF65-F5344CB8AC3E}">
        <p14:creationId xmlns:p14="http://schemas.microsoft.com/office/powerpoint/2010/main" val="4001803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8A683-9165-AA88-AD1A-F1AD2552776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9E4CC697-1E2D-CB5C-3727-BEE50E67D7B4}"/>
              </a:ext>
            </a:extLst>
          </p:cNvPr>
          <p:cNvSpPr>
            <a:spLocks noGrp="1"/>
          </p:cNvSpPr>
          <p:nvPr>
            <p:ph type="sldNum" sz="quarter" idx="12"/>
          </p:nvPr>
        </p:nvSpPr>
        <p:spPr/>
        <p:txBody>
          <a:bodyPr/>
          <a:lstStyle/>
          <a:p>
            <a:fld id="{E7F5CDC8-4C69-3A42-B83C-3417CCCF98AD}" type="slidenum">
              <a:rPr lang="en-US" smtClean="0"/>
              <a:t>‹#›</a:t>
            </a:fld>
            <a:endParaRPr lang="en-US"/>
          </a:p>
        </p:txBody>
      </p:sp>
    </p:spTree>
    <p:extLst>
      <p:ext uri="{BB962C8B-B14F-4D97-AF65-F5344CB8AC3E}">
        <p14:creationId xmlns:p14="http://schemas.microsoft.com/office/powerpoint/2010/main" val="2768022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9DC9C09-F67C-8788-B421-15E4556BC795}"/>
              </a:ext>
            </a:extLst>
          </p:cNvPr>
          <p:cNvSpPr>
            <a:spLocks noGrp="1"/>
          </p:cNvSpPr>
          <p:nvPr>
            <p:ph type="sldNum" sz="quarter" idx="12"/>
          </p:nvPr>
        </p:nvSpPr>
        <p:spPr/>
        <p:txBody>
          <a:bodyPr/>
          <a:lstStyle/>
          <a:p>
            <a:fld id="{E7F5CDC8-4C69-3A42-B83C-3417CCCF98AD}" type="slidenum">
              <a:rPr lang="en-US" smtClean="0"/>
              <a:t>‹#›</a:t>
            </a:fld>
            <a:endParaRPr lang="en-US"/>
          </a:p>
        </p:txBody>
      </p:sp>
      <p:pic>
        <p:nvPicPr>
          <p:cNvPr id="6" name="Google Shape;40;p7">
            <a:extLst>
              <a:ext uri="{FF2B5EF4-FFF2-40B4-BE49-F238E27FC236}">
                <a16:creationId xmlns:a16="http://schemas.microsoft.com/office/drawing/2014/main" id="{FDE3FAFE-BEF9-F9E1-44F8-7BBD11C94659}"/>
              </a:ext>
            </a:extLst>
          </p:cNvPr>
          <p:cNvPicPr preferRelativeResize="0"/>
          <p:nvPr userDrawn="1"/>
        </p:nvPicPr>
        <p:blipFill rotWithShape="1">
          <a:blip r:embed="rId2">
            <a:alphaModFix amt="50000"/>
          </a:blip>
          <a:srcRect l="-4659" t="-3720" r="6974" b="17795"/>
          <a:stretch/>
        </p:blipFill>
        <p:spPr>
          <a:xfrm>
            <a:off x="4381165" y="0"/>
            <a:ext cx="7810835" cy="6858000"/>
          </a:xfrm>
          <a:prstGeom prst="rect">
            <a:avLst/>
          </a:prstGeom>
          <a:noFill/>
          <a:ln>
            <a:noFill/>
          </a:ln>
        </p:spPr>
      </p:pic>
    </p:spTree>
    <p:extLst>
      <p:ext uri="{BB962C8B-B14F-4D97-AF65-F5344CB8AC3E}">
        <p14:creationId xmlns:p14="http://schemas.microsoft.com/office/powerpoint/2010/main" val="2764487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BAA00-8F48-B087-A902-D9F30F27A2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19DAF2-F4A3-D3E3-C32A-9BA5E16622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0BCF71-90C9-7416-2533-77CEEB5D54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FBBD5B93-7D3C-18DA-9E08-18734F5FD4A8}"/>
              </a:ext>
            </a:extLst>
          </p:cNvPr>
          <p:cNvSpPr>
            <a:spLocks noGrp="1"/>
          </p:cNvSpPr>
          <p:nvPr>
            <p:ph type="sldNum" sz="quarter" idx="12"/>
          </p:nvPr>
        </p:nvSpPr>
        <p:spPr/>
        <p:txBody>
          <a:bodyPr/>
          <a:lstStyle/>
          <a:p>
            <a:fld id="{E7F5CDC8-4C69-3A42-B83C-3417CCCF98AD}" type="slidenum">
              <a:rPr lang="en-US" smtClean="0"/>
              <a:t>‹#›</a:t>
            </a:fld>
            <a:endParaRPr lang="en-US"/>
          </a:p>
        </p:txBody>
      </p:sp>
      <p:cxnSp>
        <p:nvCxnSpPr>
          <p:cNvPr id="8" name="Google Shape;54;p12">
            <a:extLst>
              <a:ext uri="{FF2B5EF4-FFF2-40B4-BE49-F238E27FC236}">
                <a16:creationId xmlns:a16="http://schemas.microsoft.com/office/drawing/2014/main" id="{2D3BA634-1B17-0B00-0ABA-078DF6F7471E}"/>
              </a:ext>
            </a:extLst>
          </p:cNvPr>
          <p:cNvCxnSpPr>
            <a:cxnSpLocks/>
          </p:cNvCxnSpPr>
          <p:nvPr userDrawn="1"/>
        </p:nvCxnSpPr>
        <p:spPr>
          <a:xfrm>
            <a:off x="838200" y="2057400"/>
            <a:ext cx="1060174" cy="0"/>
          </a:xfrm>
          <a:prstGeom prst="straightConnector1">
            <a:avLst/>
          </a:prstGeom>
          <a:noFill/>
          <a:ln w="9525" cap="flat" cmpd="sng">
            <a:solidFill>
              <a:srgbClr val="8E195F"/>
            </a:solidFill>
            <a:prstDash val="solid"/>
            <a:round/>
            <a:headEnd type="none" w="sm" len="sm"/>
            <a:tailEnd type="none" w="sm" len="sm"/>
          </a:ln>
        </p:spPr>
      </p:cxnSp>
    </p:spTree>
    <p:extLst>
      <p:ext uri="{BB962C8B-B14F-4D97-AF65-F5344CB8AC3E}">
        <p14:creationId xmlns:p14="http://schemas.microsoft.com/office/powerpoint/2010/main" val="3956580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0C35A-7A3C-B9BA-F5AD-5957F0F34C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C30BB38-7D9B-1A58-BC28-18BDBA7669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4A952F0-6DA2-A36F-33F0-6BB3BA3B38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79B959-47F8-9892-9433-17FD315844D7}"/>
              </a:ext>
            </a:extLst>
          </p:cNvPr>
          <p:cNvSpPr>
            <a:spLocks noGrp="1"/>
          </p:cNvSpPr>
          <p:nvPr>
            <p:ph type="dt" sz="half" idx="10"/>
          </p:nvPr>
        </p:nvSpPr>
        <p:spPr>
          <a:xfrm>
            <a:off x="838200" y="6356350"/>
            <a:ext cx="2743200" cy="365125"/>
          </a:xfrm>
          <a:prstGeom prst="rect">
            <a:avLst/>
          </a:prstGeom>
        </p:spPr>
        <p:txBody>
          <a:bodyPr/>
          <a:lstStyle/>
          <a:p>
            <a:fld id="{1A8ABE27-03AE-A74C-9B60-CE09709807A6}" type="datetimeFigureOut">
              <a:rPr lang="en-US" smtClean="0"/>
              <a:t>4/28/2026</a:t>
            </a:fld>
            <a:endParaRPr lang="en-US"/>
          </a:p>
        </p:txBody>
      </p:sp>
      <p:sp>
        <p:nvSpPr>
          <p:cNvPr id="6" name="Footer Placeholder 5">
            <a:extLst>
              <a:ext uri="{FF2B5EF4-FFF2-40B4-BE49-F238E27FC236}">
                <a16:creationId xmlns:a16="http://schemas.microsoft.com/office/drawing/2014/main" id="{CDFB3310-2068-F49C-C688-DC2A43254F7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83A1990E-503B-9619-5834-DA142904272E}"/>
              </a:ext>
            </a:extLst>
          </p:cNvPr>
          <p:cNvSpPr>
            <a:spLocks noGrp="1"/>
          </p:cNvSpPr>
          <p:nvPr>
            <p:ph type="sldNum" sz="quarter" idx="12"/>
          </p:nvPr>
        </p:nvSpPr>
        <p:spPr/>
        <p:txBody>
          <a:bodyPr/>
          <a:lstStyle/>
          <a:p>
            <a:fld id="{E7F5CDC8-4C69-3A42-B83C-3417CCCF98AD}" type="slidenum">
              <a:rPr lang="en-US" smtClean="0"/>
              <a:t>‹#›</a:t>
            </a:fld>
            <a:endParaRPr lang="en-US"/>
          </a:p>
        </p:txBody>
      </p:sp>
      <p:cxnSp>
        <p:nvCxnSpPr>
          <p:cNvPr id="8" name="Google Shape;54;p12">
            <a:extLst>
              <a:ext uri="{FF2B5EF4-FFF2-40B4-BE49-F238E27FC236}">
                <a16:creationId xmlns:a16="http://schemas.microsoft.com/office/drawing/2014/main" id="{765BA8C9-CA51-AEB3-D280-DF4BB3FFEADF}"/>
              </a:ext>
            </a:extLst>
          </p:cNvPr>
          <p:cNvCxnSpPr>
            <a:cxnSpLocks/>
          </p:cNvCxnSpPr>
          <p:nvPr userDrawn="1"/>
        </p:nvCxnSpPr>
        <p:spPr>
          <a:xfrm>
            <a:off x="838200" y="2057400"/>
            <a:ext cx="1060174" cy="0"/>
          </a:xfrm>
          <a:prstGeom prst="straightConnector1">
            <a:avLst/>
          </a:prstGeom>
          <a:noFill/>
          <a:ln w="9525" cap="flat" cmpd="sng">
            <a:solidFill>
              <a:srgbClr val="8E195F"/>
            </a:solidFill>
            <a:prstDash val="solid"/>
            <a:round/>
            <a:headEnd type="none" w="sm" len="sm"/>
            <a:tailEnd type="none" w="sm" len="sm"/>
          </a:ln>
        </p:spPr>
      </p:cxnSp>
    </p:spTree>
    <p:extLst>
      <p:ext uri="{BB962C8B-B14F-4D97-AF65-F5344CB8AC3E}">
        <p14:creationId xmlns:p14="http://schemas.microsoft.com/office/powerpoint/2010/main" val="27891589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9" name="Picture 8" descr="A group of people posing for a photo&#10;&#10;Description automatically generated">
            <a:extLst>
              <a:ext uri="{FF2B5EF4-FFF2-40B4-BE49-F238E27FC236}">
                <a16:creationId xmlns:a16="http://schemas.microsoft.com/office/drawing/2014/main" id="{7B92FDD8-3AAB-6021-1EF8-006EA0DAB399}"/>
              </a:ext>
            </a:extLst>
          </p:cNvPr>
          <p:cNvPicPr>
            <a:picLocks noChangeAspect="1"/>
          </p:cNvPicPr>
          <p:nvPr userDrawn="1"/>
        </p:nvPicPr>
        <p:blipFill rotWithShape="1">
          <a:blip r:embed="rId2"/>
          <a:srcRect b="7248"/>
          <a:stretch/>
        </p:blipFill>
        <p:spPr>
          <a:xfrm>
            <a:off x="0" y="-228599"/>
            <a:ext cx="12195359" cy="7103600"/>
          </a:xfrm>
          <a:prstGeom prst="rect">
            <a:avLst/>
          </a:prstGeom>
        </p:spPr>
      </p:pic>
      <p:pic>
        <p:nvPicPr>
          <p:cNvPr id="6" name="Google Shape;23;p4">
            <a:extLst>
              <a:ext uri="{FF2B5EF4-FFF2-40B4-BE49-F238E27FC236}">
                <a16:creationId xmlns:a16="http://schemas.microsoft.com/office/drawing/2014/main" id="{39A4EFBB-6CD5-1E5D-A59C-26498E125D13}"/>
              </a:ext>
            </a:extLst>
          </p:cNvPr>
          <p:cNvPicPr preferRelativeResize="0"/>
          <p:nvPr userDrawn="1"/>
        </p:nvPicPr>
        <p:blipFill>
          <a:blip r:embed="rId3">
            <a:alphaModFix/>
          </a:blip>
          <a:stretch>
            <a:fillRect/>
          </a:stretch>
        </p:blipFill>
        <p:spPr>
          <a:xfrm>
            <a:off x="0" y="25500"/>
            <a:ext cx="12191893" cy="6849500"/>
          </a:xfrm>
          <a:prstGeom prst="rect">
            <a:avLst/>
          </a:prstGeom>
          <a:noFill/>
          <a:ln>
            <a:noFill/>
          </a:ln>
        </p:spPr>
      </p:pic>
      <p:pic>
        <p:nvPicPr>
          <p:cNvPr id="7" name="Google Shape;24;p4">
            <a:extLst>
              <a:ext uri="{FF2B5EF4-FFF2-40B4-BE49-F238E27FC236}">
                <a16:creationId xmlns:a16="http://schemas.microsoft.com/office/drawing/2014/main" id="{78D548C3-CE9C-F02F-F740-766CB251749C}"/>
              </a:ext>
            </a:extLst>
          </p:cNvPr>
          <p:cNvPicPr preferRelativeResize="0"/>
          <p:nvPr userDrawn="1"/>
        </p:nvPicPr>
        <p:blipFill>
          <a:blip r:embed="rId3">
            <a:alphaModFix/>
          </a:blip>
          <a:stretch>
            <a:fillRect/>
          </a:stretch>
        </p:blipFill>
        <p:spPr>
          <a:xfrm>
            <a:off x="0" y="17000"/>
            <a:ext cx="12191893" cy="6849500"/>
          </a:xfrm>
          <a:prstGeom prst="rect">
            <a:avLst/>
          </a:prstGeom>
          <a:noFill/>
          <a:ln>
            <a:noFill/>
          </a:ln>
        </p:spPr>
      </p:pic>
      <p:sp>
        <p:nvSpPr>
          <p:cNvPr id="3" name="Slide Number Placeholder 2">
            <a:extLst>
              <a:ext uri="{FF2B5EF4-FFF2-40B4-BE49-F238E27FC236}">
                <a16:creationId xmlns:a16="http://schemas.microsoft.com/office/drawing/2014/main" id="{A11B0ECE-C265-166A-6C64-A967E7CAC4CB}"/>
              </a:ext>
            </a:extLst>
          </p:cNvPr>
          <p:cNvSpPr>
            <a:spLocks noGrp="1"/>
          </p:cNvSpPr>
          <p:nvPr>
            <p:ph type="sldNum" sz="quarter" idx="10"/>
          </p:nvPr>
        </p:nvSpPr>
        <p:spPr/>
        <p:txBody>
          <a:bodyPr/>
          <a:lstStyle>
            <a:lvl1pPr>
              <a:defRPr>
                <a:solidFill>
                  <a:schemeClr val="bg1">
                    <a:lumMod val="85000"/>
                  </a:schemeClr>
                </a:solidFill>
              </a:defRPr>
            </a:lvl1pPr>
          </a:lstStyle>
          <a:p>
            <a:fld id="{E7F5CDC8-4C69-3A42-B83C-3417CCCF98AD}" type="slidenum">
              <a:rPr lang="en-US" smtClean="0"/>
              <a:pPr/>
              <a:t>‹#›</a:t>
            </a:fld>
            <a:endParaRPr lang="en-US"/>
          </a:p>
        </p:txBody>
      </p:sp>
      <p:sp>
        <p:nvSpPr>
          <p:cNvPr id="5" name="Title 1">
            <a:extLst>
              <a:ext uri="{FF2B5EF4-FFF2-40B4-BE49-F238E27FC236}">
                <a16:creationId xmlns:a16="http://schemas.microsoft.com/office/drawing/2014/main" id="{D81C5AB3-54A6-E9E3-4DD1-D826910E68BC}"/>
              </a:ext>
            </a:extLst>
          </p:cNvPr>
          <p:cNvSpPr>
            <a:spLocks noGrp="1"/>
          </p:cNvSpPr>
          <p:nvPr>
            <p:ph type="title"/>
          </p:nvPr>
        </p:nvSpPr>
        <p:spPr>
          <a:xfrm>
            <a:off x="838091" y="5213349"/>
            <a:ext cx="10515600" cy="1325563"/>
          </a:xfrm>
        </p:spPr>
        <p:txBody>
          <a:bodyPr/>
          <a:lstStyle>
            <a:lvl1pPr algn="ct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910236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4" name="Picture 3" descr="A group of people in wheelchairs&#10;&#10;Description automatically generated">
            <a:extLst>
              <a:ext uri="{FF2B5EF4-FFF2-40B4-BE49-F238E27FC236}">
                <a16:creationId xmlns:a16="http://schemas.microsoft.com/office/drawing/2014/main" id="{45FB964F-90B2-65D4-E798-AE56C6DAD7EE}"/>
              </a:ext>
            </a:extLst>
          </p:cNvPr>
          <p:cNvPicPr>
            <a:picLocks noChangeAspect="1"/>
          </p:cNvPicPr>
          <p:nvPr userDrawn="1"/>
        </p:nvPicPr>
        <p:blipFill rotWithShape="1">
          <a:blip r:embed="rId2"/>
          <a:srcRect l="-101" t="10228" r="101" b="111"/>
          <a:stretch/>
        </p:blipFill>
        <p:spPr>
          <a:xfrm>
            <a:off x="-1" y="0"/>
            <a:ext cx="12179669" cy="6858000"/>
          </a:xfrm>
          <a:prstGeom prst="rect">
            <a:avLst/>
          </a:prstGeom>
        </p:spPr>
      </p:pic>
      <p:pic>
        <p:nvPicPr>
          <p:cNvPr id="6" name="Google Shape;23;p4">
            <a:extLst>
              <a:ext uri="{FF2B5EF4-FFF2-40B4-BE49-F238E27FC236}">
                <a16:creationId xmlns:a16="http://schemas.microsoft.com/office/drawing/2014/main" id="{39A4EFBB-6CD5-1E5D-A59C-26498E125D13}"/>
              </a:ext>
            </a:extLst>
          </p:cNvPr>
          <p:cNvPicPr preferRelativeResize="0"/>
          <p:nvPr userDrawn="1"/>
        </p:nvPicPr>
        <p:blipFill>
          <a:blip r:embed="rId3">
            <a:alphaModFix/>
          </a:blip>
          <a:stretch>
            <a:fillRect/>
          </a:stretch>
        </p:blipFill>
        <p:spPr>
          <a:xfrm>
            <a:off x="0" y="25500"/>
            <a:ext cx="12191893" cy="6849500"/>
          </a:xfrm>
          <a:prstGeom prst="rect">
            <a:avLst/>
          </a:prstGeom>
          <a:noFill/>
          <a:ln>
            <a:noFill/>
          </a:ln>
        </p:spPr>
      </p:pic>
      <p:pic>
        <p:nvPicPr>
          <p:cNvPr id="7" name="Google Shape;24;p4">
            <a:extLst>
              <a:ext uri="{FF2B5EF4-FFF2-40B4-BE49-F238E27FC236}">
                <a16:creationId xmlns:a16="http://schemas.microsoft.com/office/drawing/2014/main" id="{78D548C3-CE9C-F02F-F740-766CB251749C}"/>
              </a:ext>
            </a:extLst>
          </p:cNvPr>
          <p:cNvPicPr preferRelativeResize="0"/>
          <p:nvPr userDrawn="1"/>
        </p:nvPicPr>
        <p:blipFill>
          <a:blip r:embed="rId3">
            <a:alphaModFix/>
          </a:blip>
          <a:stretch>
            <a:fillRect/>
          </a:stretch>
        </p:blipFill>
        <p:spPr>
          <a:xfrm>
            <a:off x="0" y="17000"/>
            <a:ext cx="12191893" cy="6849500"/>
          </a:xfrm>
          <a:prstGeom prst="rect">
            <a:avLst/>
          </a:prstGeom>
          <a:noFill/>
          <a:ln>
            <a:noFill/>
          </a:ln>
        </p:spPr>
      </p:pic>
      <p:sp>
        <p:nvSpPr>
          <p:cNvPr id="3" name="Slide Number Placeholder 2">
            <a:extLst>
              <a:ext uri="{FF2B5EF4-FFF2-40B4-BE49-F238E27FC236}">
                <a16:creationId xmlns:a16="http://schemas.microsoft.com/office/drawing/2014/main" id="{A11B0ECE-C265-166A-6C64-A967E7CAC4CB}"/>
              </a:ext>
            </a:extLst>
          </p:cNvPr>
          <p:cNvSpPr>
            <a:spLocks noGrp="1"/>
          </p:cNvSpPr>
          <p:nvPr>
            <p:ph type="sldNum" sz="quarter" idx="10"/>
          </p:nvPr>
        </p:nvSpPr>
        <p:spPr/>
        <p:txBody>
          <a:bodyPr/>
          <a:lstStyle>
            <a:lvl1pPr>
              <a:defRPr>
                <a:solidFill>
                  <a:schemeClr val="bg1">
                    <a:lumMod val="85000"/>
                  </a:schemeClr>
                </a:solidFill>
              </a:defRPr>
            </a:lvl1pPr>
          </a:lstStyle>
          <a:p>
            <a:fld id="{E7F5CDC8-4C69-3A42-B83C-3417CCCF98AD}" type="slidenum">
              <a:rPr lang="en-US" smtClean="0"/>
              <a:pPr/>
              <a:t>‹#›</a:t>
            </a:fld>
            <a:endParaRPr lang="en-US"/>
          </a:p>
        </p:txBody>
      </p:sp>
      <p:sp>
        <p:nvSpPr>
          <p:cNvPr id="5" name="Title 1">
            <a:extLst>
              <a:ext uri="{FF2B5EF4-FFF2-40B4-BE49-F238E27FC236}">
                <a16:creationId xmlns:a16="http://schemas.microsoft.com/office/drawing/2014/main" id="{D81C5AB3-54A6-E9E3-4DD1-D826910E68BC}"/>
              </a:ext>
            </a:extLst>
          </p:cNvPr>
          <p:cNvSpPr>
            <a:spLocks noGrp="1"/>
          </p:cNvSpPr>
          <p:nvPr>
            <p:ph type="title"/>
          </p:nvPr>
        </p:nvSpPr>
        <p:spPr>
          <a:xfrm>
            <a:off x="838091" y="5213349"/>
            <a:ext cx="10515600" cy="1325563"/>
          </a:xfrm>
        </p:spPr>
        <p:txBody>
          <a:bodyPr/>
          <a:lstStyle>
            <a:lvl1pPr algn="ct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621355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8" name="Picture 7" descr="A group of children sitting on the ground&#10;&#10;Description automatically generated">
            <a:extLst>
              <a:ext uri="{FF2B5EF4-FFF2-40B4-BE49-F238E27FC236}">
                <a16:creationId xmlns:a16="http://schemas.microsoft.com/office/drawing/2014/main" id="{C554CA08-FDE8-E121-3C1C-C7C545D45259}"/>
              </a:ext>
            </a:extLst>
          </p:cNvPr>
          <p:cNvPicPr>
            <a:picLocks noChangeAspect="1"/>
          </p:cNvPicPr>
          <p:nvPr userDrawn="1"/>
        </p:nvPicPr>
        <p:blipFill rotWithShape="1">
          <a:blip r:embed="rId2"/>
          <a:srcRect t="4992" b="5229"/>
          <a:stretch/>
        </p:blipFill>
        <p:spPr>
          <a:xfrm>
            <a:off x="-1840" y="8500"/>
            <a:ext cx="12193840" cy="6875000"/>
          </a:xfrm>
          <a:prstGeom prst="rect">
            <a:avLst/>
          </a:prstGeom>
        </p:spPr>
      </p:pic>
      <p:pic>
        <p:nvPicPr>
          <p:cNvPr id="6" name="Google Shape;23;p4">
            <a:extLst>
              <a:ext uri="{FF2B5EF4-FFF2-40B4-BE49-F238E27FC236}">
                <a16:creationId xmlns:a16="http://schemas.microsoft.com/office/drawing/2014/main" id="{39A4EFBB-6CD5-1E5D-A59C-26498E125D13}"/>
              </a:ext>
            </a:extLst>
          </p:cNvPr>
          <p:cNvPicPr preferRelativeResize="0"/>
          <p:nvPr userDrawn="1"/>
        </p:nvPicPr>
        <p:blipFill>
          <a:blip r:embed="rId3">
            <a:alphaModFix/>
          </a:blip>
          <a:stretch>
            <a:fillRect/>
          </a:stretch>
        </p:blipFill>
        <p:spPr>
          <a:xfrm>
            <a:off x="0" y="25500"/>
            <a:ext cx="12191893" cy="6849500"/>
          </a:xfrm>
          <a:prstGeom prst="rect">
            <a:avLst/>
          </a:prstGeom>
          <a:noFill/>
          <a:ln>
            <a:noFill/>
          </a:ln>
        </p:spPr>
      </p:pic>
      <p:pic>
        <p:nvPicPr>
          <p:cNvPr id="7" name="Google Shape;24;p4">
            <a:extLst>
              <a:ext uri="{FF2B5EF4-FFF2-40B4-BE49-F238E27FC236}">
                <a16:creationId xmlns:a16="http://schemas.microsoft.com/office/drawing/2014/main" id="{78D548C3-CE9C-F02F-F740-766CB251749C}"/>
              </a:ext>
            </a:extLst>
          </p:cNvPr>
          <p:cNvPicPr preferRelativeResize="0"/>
          <p:nvPr userDrawn="1"/>
        </p:nvPicPr>
        <p:blipFill>
          <a:blip r:embed="rId3">
            <a:alphaModFix/>
          </a:blip>
          <a:stretch>
            <a:fillRect/>
          </a:stretch>
        </p:blipFill>
        <p:spPr>
          <a:xfrm>
            <a:off x="0" y="8500"/>
            <a:ext cx="12191893" cy="6849500"/>
          </a:xfrm>
          <a:prstGeom prst="rect">
            <a:avLst/>
          </a:prstGeom>
          <a:noFill/>
          <a:ln>
            <a:noFill/>
          </a:ln>
        </p:spPr>
      </p:pic>
      <p:sp>
        <p:nvSpPr>
          <p:cNvPr id="3" name="Slide Number Placeholder 2">
            <a:extLst>
              <a:ext uri="{FF2B5EF4-FFF2-40B4-BE49-F238E27FC236}">
                <a16:creationId xmlns:a16="http://schemas.microsoft.com/office/drawing/2014/main" id="{A11B0ECE-C265-166A-6C64-A967E7CAC4CB}"/>
              </a:ext>
            </a:extLst>
          </p:cNvPr>
          <p:cNvSpPr>
            <a:spLocks noGrp="1"/>
          </p:cNvSpPr>
          <p:nvPr>
            <p:ph type="sldNum" sz="quarter" idx="10"/>
          </p:nvPr>
        </p:nvSpPr>
        <p:spPr/>
        <p:txBody>
          <a:bodyPr/>
          <a:lstStyle>
            <a:lvl1pPr>
              <a:defRPr>
                <a:solidFill>
                  <a:schemeClr val="bg1">
                    <a:lumMod val="85000"/>
                  </a:schemeClr>
                </a:solidFill>
              </a:defRPr>
            </a:lvl1pPr>
          </a:lstStyle>
          <a:p>
            <a:fld id="{E7F5CDC8-4C69-3A42-B83C-3417CCCF98AD}" type="slidenum">
              <a:rPr lang="en-US" smtClean="0"/>
              <a:pPr/>
              <a:t>‹#›</a:t>
            </a:fld>
            <a:endParaRPr lang="en-US"/>
          </a:p>
        </p:txBody>
      </p:sp>
      <p:sp>
        <p:nvSpPr>
          <p:cNvPr id="5" name="Title 1">
            <a:extLst>
              <a:ext uri="{FF2B5EF4-FFF2-40B4-BE49-F238E27FC236}">
                <a16:creationId xmlns:a16="http://schemas.microsoft.com/office/drawing/2014/main" id="{D81C5AB3-54A6-E9E3-4DD1-D826910E68BC}"/>
              </a:ext>
            </a:extLst>
          </p:cNvPr>
          <p:cNvSpPr>
            <a:spLocks noGrp="1"/>
          </p:cNvSpPr>
          <p:nvPr>
            <p:ph type="title"/>
          </p:nvPr>
        </p:nvSpPr>
        <p:spPr>
          <a:xfrm>
            <a:off x="838091" y="5213349"/>
            <a:ext cx="10515600" cy="1325563"/>
          </a:xfrm>
        </p:spPr>
        <p:txBody>
          <a:bodyPr/>
          <a:lstStyle>
            <a:lvl1pPr algn="ct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5634015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4" name="Picture 3" descr="A group of people posing for a photo&#10;&#10;Description automatically generated">
            <a:extLst>
              <a:ext uri="{FF2B5EF4-FFF2-40B4-BE49-F238E27FC236}">
                <a16:creationId xmlns:a16="http://schemas.microsoft.com/office/drawing/2014/main" id="{CD20DA34-4540-A3DE-9058-81ED0FE7C96C}"/>
              </a:ext>
            </a:extLst>
          </p:cNvPr>
          <p:cNvPicPr>
            <a:picLocks noChangeAspect="1"/>
          </p:cNvPicPr>
          <p:nvPr userDrawn="1"/>
        </p:nvPicPr>
        <p:blipFill rotWithShape="1">
          <a:blip r:embed="rId2"/>
          <a:srcRect l="22" t="1038" r="-22" b="9247"/>
          <a:stretch/>
        </p:blipFill>
        <p:spPr>
          <a:xfrm>
            <a:off x="0" y="12750"/>
            <a:ext cx="12202339" cy="6875000"/>
          </a:xfrm>
          <a:prstGeom prst="rect">
            <a:avLst/>
          </a:prstGeom>
        </p:spPr>
      </p:pic>
      <p:pic>
        <p:nvPicPr>
          <p:cNvPr id="6" name="Google Shape;23;p4">
            <a:extLst>
              <a:ext uri="{FF2B5EF4-FFF2-40B4-BE49-F238E27FC236}">
                <a16:creationId xmlns:a16="http://schemas.microsoft.com/office/drawing/2014/main" id="{39A4EFBB-6CD5-1E5D-A59C-26498E125D13}"/>
              </a:ext>
            </a:extLst>
          </p:cNvPr>
          <p:cNvPicPr preferRelativeResize="0"/>
          <p:nvPr userDrawn="1"/>
        </p:nvPicPr>
        <p:blipFill>
          <a:blip r:embed="rId3">
            <a:alphaModFix/>
          </a:blip>
          <a:stretch>
            <a:fillRect/>
          </a:stretch>
        </p:blipFill>
        <p:spPr>
          <a:xfrm>
            <a:off x="0" y="25500"/>
            <a:ext cx="12191893" cy="6849500"/>
          </a:xfrm>
          <a:prstGeom prst="rect">
            <a:avLst/>
          </a:prstGeom>
          <a:noFill/>
          <a:ln>
            <a:noFill/>
          </a:ln>
        </p:spPr>
      </p:pic>
      <p:pic>
        <p:nvPicPr>
          <p:cNvPr id="7" name="Google Shape;24;p4">
            <a:extLst>
              <a:ext uri="{FF2B5EF4-FFF2-40B4-BE49-F238E27FC236}">
                <a16:creationId xmlns:a16="http://schemas.microsoft.com/office/drawing/2014/main" id="{78D548C3-CE9C-F02F-F740-766CB251749C}"/>
              </a:ext>
            </a:extLst>
          </p:cNvPr>
          <p:cNvPicPr preferRelativeResize="0"/>
          <p:nvPr userDrawn="1"/>
        </p:nvPicPr>
        <p:blipFill>
          <a:blip r:embed="rId3">
            <a:alphaModFix/>
          </a:blip>
          <a:stretch>
            <a:fillRect/>
          </a:stretch>
        </p:blipFill>
        <p:spPr>
          <a:xfrm>
            <a:off x="0" y="25500"/>
            <a:ext cx="12191893" cy="6849500"/>
          </a:xfrm>
          <a:prstGeom prst="rect">
            <a:avLst/>
          </a:prstGeom>
          <a:noFill/>
          <a:ln>
            <a:noFill/>
          </a:ln>
        </p:spPr>
      </p:pic>
      <p:sp>
        <p:nvSpPr>
          <p:cNvPr id="3" name="Slide Number Placeholder 2">
            <a:extLst>
              <a:ext uri="{FF2B5EF4-FFF2-40B4-BE49-F238E27FC236}">
                <a16:creationId xmlns:a16="http://schemas.microsoft.com/office/drawing/2014/main" id="{A11B0ECE-C265-166A-6C64-A967E7CAC4CB}"/>
              </a:ext>
            </a:extLst>
          </p:cNvPr>
          <p:cNvSpPr>
            <a:spLocks noGrp="1"/>
          </p:cNvSpPr>
          <p:nvPr>
            <p:ph type="sldNum" sz="quarter" idx="10"/>
          </p:nvPr>
        </p:nvSpPr>
        <p:spPr/>
        <p:txBody>
          <a:bodyPr/>
          <a:lstStyle>
            <a:lvl1pPr>
              <a:defRPr>
                <a:solidFill>
                  <a:schemeClr val="bg1">
                    <a:lumMod val="85000"/>
                  </a:schemeClr>
                </a:solidFill>
              </a:defRPr>
            </a:lvl1pPr>
          </a:lstStyle>
          <a:p>
            <a:fld id="{E7F5CDC8-4C69-3A42-B83C-3417CCCF98AD}" type="slidenum">
              <a:rPr lang="en-US" smtClean="0"/>
              <a:pPr/>
              <a:t>‹#›</a:t>
            </a:fld>
            <a:endParaRPr lang="en-US"/>
          </a:p>
        </p:txBody>
      </p:sp>
      <p:sp>
        <p:nvSpPr>
          <p:cNvPr id="5" name="Title 1">
            <a:extLst>
              <a:ext uri="{FF2B5EF4-FFF2-40B4-BE49-F238E27FC236}">
                <a16:creationId xmlns:a16="http://schemas.microsoft.com/office/drawing/2014/main" id="{D81C5AB3-54A6-E9E3-4DD1-D826910E68BC}"/>
              </a:ext>
            </a:extLst>
          </p:cNvPr>
          <p:cNvSpPr>
            <a:spLocks noGrp="1"/>
          </p:cNvSpPr>
          <p:nvPr>
            <p:ph type="title"/>
          </p:nvPr>
        </p:nvSpPr>
        <p:spPr>
          <a:xfrm>
            <a:off x="838091" y="5213349"/>
            <a:ext cx="10515600" cy="1325563"/>
          </a:xfrm>
        </p:spPr>
        <p:txBody>
          <a:bodyPr/>
          <a:lstStyle>
            <a:lvl1pPr algn="ct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663911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6656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3755393-20D9-7AD8-19DC-3FEB111EF4CF}"/>
              </a:ext>
            </a:extLst>
          </p:cNvPr>
          <p:cNvSpPr/>
          <p:nvPr userDrawn="1"/>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7BD58DEC-AAF3-36B3-4460-BB53AAF4FDDB}"/>
              </a:ext>
            </a:extLst>
          </p:cNvPr>
          <p:cNvSpPr>
            <a:spLocks noGrp="1"/>
          </p:cNvSpPr>
          <p:nvPr>
            <p:ph type="sldNum" sz="quarter" idx="10"/>
          </p:nvPr>
        </p:nvSpPr>
        <p:spPr/>
        <p:txBody>
          <a:bodyPr/>
          <a:lstStyle>
            <a:lvl1pPr>
              <a:defRPr>
                <a:solidFill>
                  <a:schemeClr val="bg1">
                    <a:lumMod val="85000"/>
                  </a:schemeClr>
                </a:solidFill>
              </a:defRPr>
            </a:lvl1pPr>
          </a:lstStyle>
          <a:p>
            <a:fld id="{E7F5CDC8-4C69-3A42-B83C-3417CCCF98AD}" type="slidenum">
              <a:rPr lang="en-US" smtClean="0"/>
              <a:pPr/>
              <a:t>‹#›</a:t>
            </a:fld>
            <a:endParaRPr lang="en-US"/>
          </a:p>
        </p:txBody>
      </p:sp>
      <p:pic>
        <p:nvPicPr>
          <p:cNvPr id="5" name="Google Shape;42;p7">
            <a:extLst>
              <a:ext uri="{FF2B5EF4-FFF2-40B4-BE49-F238E27FC236}">
                <a16:creationId xmlns:a16="http://schemas.microsoft.com/office/drawing/2014/main" id="{516AE35E-5DD5-682D-EE2D-B902E27D29A8}"/>
              </a:ext>
            </a:extLst>
          </p:cNvPr>
          <p:cNvPicPr preferRelativeResize="0"/>
          <p:nvPr userDrawn="1"/>
        </p:nvPicPr>
        <p:blipFill>
          <a:blip r:embed="rId2">
            <a:alphaModFix/>
          </a:blip>
          <a:stretch>
            <a:fillRect/>
          </a:stretch>
        </p:blipFill>
        <p:spPr>
          <a:xfrm>
            <a:off x="4707018" y="6307147"/>
            <a:ext cx="2765264" cy="291633"/>
          </a:xfrm>
          <a:prstGeom prst="rect">
            <a:avLst/>
          </a:prstGeom>
          <a:noFill/>
          <a:ln>
            <a:noFill/>
          </a:ln>
        </p:spPr>
      </p:pic>
    </p:spTree>
    <p:extLst>
      <p:ext uri="{BB962C8B-B14F-4D97-AF65-F5344CB8AC3E}">
        <p14:creationId xmlns:p14="http://schemas.microsoft.com/office/powerpoint/2010/main" val="1724319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DB817B-0ED8-4419-A557-327BC4A66E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765EE94-BD64-9B5A-3F84-3CE5615495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661DF952-AEC6-5A4B-49AB-1AB241EE80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F5CDC8-4C69-3A42-B83C-3417CCCF98AD}" type="slidenum">
              <a:rPr lang="en-US" smtClean="0"/>
              <a:t>‹#›</a:t>
            </a:fld>
            <a:endParaRPr lang="en-US"/>
          </a:p>
        </p:txBody>
      </p:sp>
      <p:pic>
        <p:nvPicPr>
          <p:cNvPr id="7" name="Google Shape;42;p7">
            <a:extLst>
              <a:ext uri="{FF2B5EF4-FFF2-40B4-BE49-F238E27FC236}">
                <a16:creationId xmlns:a16="http://schemas.microsoft.com/office/drawing/2014/main" id="{353E5723-2588-CDDF-E321-3F689A8DC843}"/>
              </a:ext>
            </a:extLst>
          </p:cNvPr>
          <p:cNvPicPr preferRelativeResize="0"/>
          <p:nvPr userDrawn="1"/>
        </p:nvPicPr>
        <p:blipFill>
          <a:blip r:embed="rId19">
            <a:alphaModFix/>
          </a:blip>
          <a:stretch>
            <a:fillRect/>
          </a:stretch>
        </p:blipFill>
        <p:spPr>
          <a:xfrm>
            <a:off x="4707018" y="6307147"/>
            <a:ext cx="2765264" cy="291633"/>
          </a:xfrm>
          <a:prstGeom prst="rect">
            <a:avLst/>
          </a:prstGeom>
          <a:noFill/>
          <a:ln>
            <a:noFill/>
          </a:ln>
        </p:spPr>
      </p:pic>
    </p:spTree>
    <p:extLst>
      <p:ext uri="{BB962C8B-B14F-4D97-AF65-F5344CB8AC3E}">
        <p14:creationId xmlns:p14="http://schemas.microsoft.com/office/powerpoint/2010/main" val="3646803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76" r:id="rId4"/>
    <p:sldLayoutId id="2147483677" r:id="rId5"/>
    <p:sldLayoutId id="2147483664" r:id="rId6"/>
    <p:sldLayoutId id="2147483665" r:id="rId7"/>
    <p:sldLayoutId id="2147483666" r:id="rId8"/>
    <p:sldLayoutId id="2147483667" r:id="rId9"/>
    <p:sldLayoutId id="2147483668" r:id="rId10"/>
    <p:sldLayoutId id="2147483669" r:id="rId11"/>
    <p:sldLayoutId id="2147483672" r:id="rId12"/>
    <p:sldLayoutId id="2147483675" r:id="rId13"/>
    <p:sldLayoutId id="2147483673" r:id="rId14"/>
    <p:sldLayoutId id="2147483674" r:id="rId15"/>
    <p:sldLayoutId id="2147483670" r:id="rId16"/>
    <p:sldLayoutId id="2147483671" r:id="rId17"/>
  </p:sldLayoutIdLst>
  <p:txStyles>
    <p:titleStyle>
      <a:lvl1pPr algn="l" defTabSz="914400" rtl="0" eaLnBrk="1" latinLnBrk="0" hangingPunct="1">
        <a:lnSpc>
          <a:spcPct val="90000"/>
        </a:lnSpc>
        <a:spcBef>
          <a:spcPct val="0"/>
        </a:spcBef>
        <a:buNone/>
        <a:defRPr sz="4400" kern="1200">
          <a:solidFill>
            <a:schemeClr val="accent5"/>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entra.microsoft.com/#view/Microsoft_AAD_IAM/AuthenticationMethodsMenuBlade/~/AuthMethodsActivity/fromNav/Identity"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entra.microsoft.com/#view/Microsoft_AAD_IAM/UserRegistrationDetailsList.ReactView/ssprCapable~/true" TargetMode="External"/><Relationship Id="rId4" Type="http://schemas.openxmlformats.org/officeDocument/2006/relationships/hyperlink" Target="https://entra.microsoft.com/#view/Microsoft_AAD_IAM/UserRegistrationDetailsList.ReactView/ssprCapable~/false"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entra.microsoft.com/#view/Microsoft_AAD_Devices/DevicesMenuBlade/~/LocalAdminPassword/menuId/Overview"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intune.microsoft.com/#view/Microsoft_Intune_Workflows/SecurityManagementMenu/~/asr"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security.microsoft.com/devicemalwarestate?filter=%7B%22MalwareState%22%3A%22Active%22%7D"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hyperlink" Target="https://security.microsoft.com/webprotection" TargetMode="External"/><Relationship Id="rId4" Type="http://schemas.openxmlformats.org/officeDocument/2006/relationships/hyperlink" Target="https://security.microsoft.com/devicehealth?viewid=oldavhealthreport"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one.dash.cloudflare.com/a4caa9173249f62143de85800fa134c1/insights/dashboards/dns-query?&amp;resolverDecision=blockedRule%2CblockedAlwaysCategory"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one.dash.cloudflare.com/a4caa9173249f62143de85800fa134c1/insights/dex/tests"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security.microsoft.com/value-reflection?lookbackDays=30"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hyperlink" Target="https://security.microsoft.com/cases" TargetMode="External"/><Relationship Id="rId4" Type="http://schemas.openxmlformats.org/officeDocument/2006/relationships/hyperlink" Target="https://security.microsoft.com/sentinel/831da82c-9ea4-4794-8c48-6bcf14f3cba7/ci-sentinel/CI-Sentinel/workbook/%2Fsubscriptions%2F831da82c-9ea4-4794-8c48-6bcf14f3cba7%2Fresourcegroups%2Fci-sentinel%2Fproviders%2Fmicrosoft.insights%2Fworkbooks%2F263be4a6-3d91-4ef2-82c9-857e441aea0a"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4C530-7ED6-5C89-FC60-CDAEE10945EF}"/>
              </a:ext>
            </a:extLst>
          </p:cNvPr>
          <p:cNvSpPr>
            <a:spLocks noGrp="1"/>
          </p:cNvSpPr>
          <p:nvPr>
            <p:ph type="ctrTitle"/>
          </p:nvPr>
        </p:nvSpPr>
        <p:spPr>
          <a:xfrm>
            <a:off x="1524000" y="1649134"/>
            <a:ext cx="9144000" cy="2387600"/>
          </a:xfrm>
        </p:spPr>
        <p:txBody>
          <a:bodyPr/>
          <a:lstStyle/>
          <a:p>
            <a:r>
              <a:rPr lang="en-US"/>
              <a:t>Modern Information Security</a:t>
            </a:r>
          </a:p>
        </p:txBody>
      </p:sp>
      <p:sp>
        <p:nvSpPr>
          <p:cNvPr id="3" name="Subtitle 2">
            <a:extLst>
              <a:ext uri="{FF2B5EF4-FFF2-40B4-BE49-F238E27FC236}">
                <a16:creationId xmlns:a16="http://schemas.microsoft.com/office/drawing/2014/main" id="{AE77A9F7-8744-D393-AB05-6371658C5286}"/>
              </a:ext>
            </a:extLst>
          </p:cNvPr>
          <p:cNvSpPr>
            <a:spLocks noGrp="1"/>
          </p:cNvSpPr>
          <p:nvPr>
            <p:ph type="subTitle" idx="1"/>
          </p:nvPr>
        </p:nvSpPr>
        <p:spPr/>
        <p:txBody>
          <a:bodyPr/>
          <a:lstStyle/>
          <a:p>
            <a:r>
              <a:rPr lang="en-US"/>
              <a:t>Lessons learned and improvements made</a:t>
            </a:r>
            <a:br>
              <a:rPr lang="en-US"/>
            </a:br>
            <a:r>
              <a:rPr lang="en-US"/>
              <a:t>2020-2025</a:t>
            </a:r>
          </a:p>
        </p:txBody>
      </p:sp>
      <p:pic>
        <p:nvPicPr>
          <p:cNvPr id="5" name="Picture 4">
            <a:extLst>
              <a:ext uri="{FF2B5EF4-FFF2-40B4-BE49-F238E27FC236}">
                <a16:creationId xmlns:a16="http://schemas.microsoft.com/office/drawing/2014/main" id="{BAD3BE63-61A7-60FE-E51B-9C5E570F676C}"/>
              </a:ext>
            </a:extLst>
          </p:cNvPr>
          <p:cNvPicPr>
            <a:picLocks noChangeAspect="1"/>
          </p:cNvPicPr>
          <p:nvPr/>
        </p:nvPicPr>
        <p:blipFill>
          <a:blip r:embed="rId3"/>
          <a:stretch>
            <a:fillRect/>
          </a:stretch>
        </p:blipFill>
        <p:spPr>
          <a:xfrm>
            <a:off x="490758" y="482797"/>
            <a:ext cx="1800476" cy="1181265"/>
          </a:xfrm>
          <a:prstGeom prst="rect">
            <a:avLst/>
          </a:prstGeom>
        </p:spPr>
      </p:pic>
    </p:spTree>
    <p:extLst>
      <p:ext uri="{BB962C8B-B14F-4D97-AF65-F5344CB8AC3E}">
        <p14:creationId xmlns:p14="http://schemas.microsoft.com/office/powerpoint/2010/main" val="1239716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6A05A-8CFB-E00A-89CD-3224019404F4}"/>
              </a:ext>
            </a:extLst>
          </p:cNvPr>
          <p:cNvSpPr>
            <a:spLocks noGrp="1"/>
          </p:cNvSpPr>
          <p:nvPr>
            <p:ph type="title"/>
          </p:nvPr>
        </p:nvSpPr>
        <p:spPr/>
        <p:txBody>
          <a:bodyPr/>
          <a:lstStyle/>
          <a:p>
            <a:r>
              <a:rPr lang="en-US"/>
              <a:t>What does Modern security mean?</a:t>
            </a:r>
          </a:p>
        </p:txBody>
      </p:sp>
      <p:sp>
        <p:nvSpPr>
          <p:cNvPr id="4" name="Content Placeholder 2">
            <a:extLst>
              <a:ext uri="{FF2B5EF4-FFF2-40B4-BE49-F238E27FC236}">
                <a16:creationId xmlns:a16="http://schemas.microsoft.com/office/drawing/2014/main" id="{D9557638-4683-ADEA-8A51-B3656A5F7BA7}"/>
              </a:ext>
            </a:extLst>
          </p:cNvPr>
          <p:cNvSpPr>
            <a:spLocks noGrp="1"/>
          </p:cNvSpPr>
          <p:nvPr>
            <p:ph idx="1"/>
          </p:nvPr>
        </p:nvSpPr>
        <p:spPr>
          <a:xfrm>
            <a:off x="838200" y="1825625"/>
            <a:ext cx="4820322" cy="4351338"/>
          </a:xfrm>
        </p:spPr>
        <p:txBody>
          <a:bodyPr>
            <a:normAutofit fontScale="92500" lnSpcReduction="10000"/>
          </a:bodyPr>
          <a:lstStyle/>
          <a:p>
            <a:pPr marL="0" indent="0">
              <a:buNone/>
            </a:pPr>
            <a:r>
              <a:rPr lang="en-US"/>
              <a:t>Classical</a:t>
            </a:r>
          </a:p>
          <a:p>
            <a:pPr marL="0" indent="0">
              <a:buNone/>
            </a:pPr>
            <a:r>
              <a:rPr lang="en-US" sz="2400"/>
              <a:t>Go slow to stay safe</a:t>
            </a:r>
          </a:p>
          <a:p>
            <a:pPr marL="0" indent="0">
              <a:buNone/>
            </a:pPr>
            <a:r>
              <a:rPr lang="en-US" sz="2400"/>
              <a:t>Defend the castle</a:t>
            </a:r>
          </a:p>
          <a:p>
            <a:pPr marL="0" indent="0">
              <a:buNone/>
            </a:pPr>
            <a:r>
              <a:rPr lang="en-US" sz="2400"/>
              <a:t>Infosec team solely responsible</a:t>
            </a:r>
          </a:p>
          <a:p>
            <a:pPr marL="0" indent="0">
              <a:buNone/>
            </a:pPr>
            <a:r>
              <a:rPr lang="en-US" sz="2400"/>
              <a:t>Hardening</a:t>
            </a:r>
          </a:p>
          <a:p>
            <a:pPr marL="0" indent="0">
              <a:buNone/>
            </a:pPr>
            <a:r>
              <a:rPr lang="en-US" sz="2400"/>
              <a:t>Prevent breach</a:t>
            </a:r>
          </a:p>
          <a:p>
            <a:pPr marL="0" indent="0">
              <a:buNone/>
            </a:pPr>
            <a:r>
              <a:rPr lang="en-US" sz="2400"/>
              <a:t>Avoid risks</a:t>
            </a:r>
          </a:p>
        </p:txBody>
      </p:sp>
      <p:sp>
        <p:nvSpPr>
          <p:cNvPr id="5" name="Content Placeholder 2">
            <a:extLst>
              <a:ext uri="{FF2B5EF4-FFF2-40B4-BE49-F238E27FC236}">
                <a16:creationId xmlns:a16="http://schemas.microsoft.com/office/drawing/2014/main" id="{24816994-1FB2-0B00-2CC8-444412783055}"/>
              </a:ext>
            </a:extLst>
          </p:cNvPr>
          <p:cNvSpPr txBox="1">
            <a:spLocks/>
          </p:cNvSpPr>
          <p:nvPr/>
        </p:nvSpPr>
        <p:spPr>
          <a:xfrm>
            <a:off x="6533478" y="1825625"/>
            <a:ext cx="4820322" cy="435133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Modern</a:t>
            </a:r>
          </a:p>
          <a:p>
            <a:pPr marL="0" indent="0">
              <a:buFont typeface="Arial" panose="020B0604020202020204" pitchFamily="34" charset="0"/>
              <a:buNone/>
            </a:pPr>
            <a:r>
              <a:rPr lang="en-US" sz="2400"/>
              <a:t>Go fast (automation)</a:t>
            </a:r>
          </a:p>
          <a:p>
            <a:pPr marL="0" indent="0">
              <a:buFont typeface="Arial" panose="020B0604020202020204" pitchFamily="34" charset="0"/>
              <a:buNone/>
            </a:pPr>
            <a:r>
              <a:rPr lang="en-US" sz="2400"/>
              <a:t>There is no perimeter to defend</a:t>
            </a:r>
          </a:p>
          <a:p>
            <a:pPr marL="0" indent="0">
              <a:buFont typeface="Arial" panose="020B0604020202020204" pitchFamily="34" charset="0"/>
              <a:buNone/>
            </a:pPr>
            <a:r>
              <a:rPr lang="en-US" sz="2400" err="1"/>
              <a:t>DevSecOps</a:t>
            </a:r>
            <a:endParaRPr lang="en-US" sz="2400"/>
          </a:p>
          <a:p>
            <a:pPr marL="0" indent="0">
              <a:buFont typeface="Arial" panose="020B0604020202020204" pitchFamily="34" charset="0"/>
              <a:buNone/>
            </a:pPr>
            <a:r>
              <a:rPr lang="en-US" sz="2400"/>
              <a:t>Resilience</a:t>
            </a:r>
          </a:p>
          <a:p>
            <a:pPr marL="0" indent="0">
              <a:buFont typeface="Arial" panose="020B0604020202020204" pitchFamily="34" charset="0"/>
              <a:buNone/>
            </a:pPr>
            <a:r>
              <a:rPr lang="en-US" sz="2400"/>
              <a:t>Assume breach</a:t>
            </a:r>
          </a:p>
          <a:p>
            <a:pPr marL="0" indent="0">
              <a:buFont typeface="Arial" panose="020B0604020202020204" pitchFamily="34" charset="0"/>
              <a:buNone/>
            </a:pPr>
            <a:r>
              <a:rPr lang="en-US" sz="2400"/>
              <a:t>Manage risks</a:t>
            </a:r>
          </a:p>
          <a:p>
            <a:pPr marL="0" indent="0">
              <a:buFont typeface="Arial" panose="020B0604020202020204" pitchFamily="34" charset="0"/>
              <a:buNone/>
            </a:pPr>
            <a:endParaRPr lang="en-US"/>
          </a:p>
        </p:txBody>
      </p:sp>
    </p:spTree>
    <p:extLst>
      <p:ext uri="{BB962C8B-B14F-4D97-AF65-F5344CB8AC3E}">
        <p14:creationId xmlns:p14="http://schemas.microsoft.com/office/powerpoint/2010/main" val="121594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EC5AC-654E-1831-20C4-428924DA1F85}"/>
              </a:ext>
            </a:extLst>
          </p:cNvPr>
          <p:cNvSpPr>
            <a:spLocks noGrp="1"/>
          </p:cNvSpPr>
          <p:nvPr>
            <p:ph type="title"/>
          </p:nvPr>
        </p:nvSpPr>
        <p:spPr/>
        <p:txBody>
          <a:bodyPr/>
          <a:lstStyle/>
          <a:p>
            <a:r>
              <a:rPr lang="en-US"/>
              <a:t>Topic agenda</a:t>
            </a:r>
          </a:p>
        </p:txBody>
      </p:sp>
      <p:sp>
        <p:nvSpPr>
          <p:cNvPr id="3" name="Content Placeholder 2">
            <a:extLst>
              <a:ext uri="{FF2B5EF4-FFF2-40B4-BE49-F238E27FC236}">
                <a16:creationId xmlns:a16="http://schemas.microsoft.com/office/drawing/2014/main" id="{49D6BCCC-2074-958D-B22A-059E959898AD}"/>
              </a:ext>
            </a:extLst>
          </p:cNvPr>
          <p:cNvSpPr>
            <a:spLocks noGrp="1"/>
          </p:cNvSpPr>
          <p:nvPr>
            <p:ph idx="1"/>
          </p:nvPr>
        </p:nvSpPr>
        <p:spPr/>
        <p:txBody>
          <a:bodyPr>
            <a:normAutofit fontScale="85000" lnSpcReduction="20000"/>
          </a:bodyPr>
          <a:lstStyle/>
          <a:p>
            <a:r>
              <a:rPr lang="en-US"/>
              <a:t>Overview of our environment &amp; threat model</a:t>
            </a:r>
          </a:p>
          <a:p>
            <a:r>
              <a:rPr lang="en-US"/>
              <a:t>Defending identity: Multifactor authentication</a:t>
            </a:r>
          </a:p>
          <a:p>
            <a:r>
              <a:rPr lang="en-US"/>
              <a:t>Modern endpoint provisioning with Intune</a:t>
            </a:r>
          </a:p>
          <a:p>
            <a:r>
              <a:rPr lang="en-US"/>
              <a:t>Endpoint protection with Defender XDR</a:t>
            </a:r>
          </a:p>
          <a:p>
            <a:r>
              <a:rPr lang="en-US"/>
              <a:t>Network protection with Cloudflare WARP/Project Galileo</a:t>
            </a:r>
          </a:p>
          <a:p>
            <a:r>
              <a:rPr lang="en-US"/>
              <a:t>SOC automation with Sentinel</a:t>
            </a:r>
          </a:p>
          <a:p>
            <a:r>
              <a:rPr lang="en-US"/>
              <a:t>WLAN improvements using Fortinet products</a:t>
            </a:r>
          </a:p>
        </p:txBody>
      </p:sp>
    </p:spTree>
    <p:extLst>
      <p:ext uri="{BB962C8B-B14F-4D97-AF65-F5344CB8AC3E}">
        <p14:creationId xmlns:p14="http://schemas.microsoft.com/office/powerpoint/2010/main" val="572700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9631A-25F7-1B9B-5CE4-756ECC0DCAB6}"/>
              </a:ext>
            </a:extLst>
          </p:cNvPr>
          <p:cNvSpPr>
            <a:spLocks noGrp="1"/>
          </p:cNvSpPr>
          <p:nvPr>
            <p:ph type="title"/>
          </p:nvPr>
        </p:nvSpPr>
        <p:spPr/>
        <p:txBody>
          <a:bodyPr/>
          <a:lstStyle/>
          <a:p>
            <a:r>
              <a:rPr lang="en-US"/>
              <a:t>1,100 people in ten countries</a:t>
            </a:r>
          </a:p>
        </p:txBody>
      </p:sp>
      <p:pic>
        <p:nvPicPr>
          <p:cNvPr id="5" name="Picture 4">
            <a:extLst>
              <a:ext uri="{FF2B5EF4-FFF2-40B4-BE49-F238E27FC236}">
                <a16:creationId xmlns:a16="http://schemas.microsoft.com/office/drawing/2014/main" id="{E8B1FAE1-3824-06E3-BF7D-83F4F8F43000}"/>
              </a:ext>
            </a:extLst>
          </p:cNvPr>
          <p:cNvPicPr>
            <a:picLocks noChangeAspect="1"/>
          </p:cNvPicPr>
          <p:nvPr/>
        </p:nvPicPr>
        <p:blipFill>
          <a:blip r:embed="rId3"/>
          <a:stretch>
            <a:fillRect/>
          </a:stretch>
        </p:blipFill>
        <p:spPr>
          <a:xfrm>
            <a:off x="3401937" y="1900525"/>
            <a:ext cx="7951863" cy="4276438"/>
          </a:xfrm>
          <a:prstGeom prst="rect">
            <a:avLst/>
          </a:prstGeom>
        </p:spPr>
      </p:pic>
      <p:sp>
        <p:nvSpPr>
          <p:cNvPr id="3" name="Content Placeholder 2">
            <a:extLst>
              <a:ext uri="{FF2B5EF4-FFF2-40B4-BE49-F238E27FC236}">
                <a16:creationId xmlns:a16="http://schemas.microsoft.com/office/drawing/2014/main" id="{E5EFA6F8-1C73-DBCF-9015-1E3998F995F3}"/>
              </a:ext>
            </a:extLst>
          </p:cNvPr>
          <p:cNvSpPr>
            <a:spLocks noGrp="1"/>
          </p:cNvSpPr>
          <p:nvPr>
            <p:ph idx="1"/>
          </p:nvPr>
        </p:nvSpPr>
        <p:spPr>
          <a:xfrm>
            <a:off x="838200" y="1825625"/>
            <a:ext cx="4613031" cy="4351338"/>
          </a:xfrm>
        </p:spPr>
        <p:txBody>
          <a:bodyPr>
            <a:normAutofit/>
          </a:bodyPr>
          <a:lstStyle/>
          <a:p>
            <a:r>
              <a:rPr lang="en-US"/>
              <a:t>We are federated</a:t>
            </a:r>
          </a:p>
          <a:p>
            <a:r>
              <a:rPr lang="en-US"/>
              <a:t>Around 70 locations</a:t>
            </a:r>
          </a:p>
          <a:p>
            <a:r>
              <a:rPr lang="en-US"/>
              <a:t>HQ in USA</a:t>
            </a:r>
          </a:p>
          <a:p>
            <a:r>
              <a:rPr lang="en-US"/>
              <a:t>LATAM is a region</a:t>
            </a:r>
          </a:p>
          <a:p>
            <a:r>
              <a:rPr lang="en-US"/>
              <a:t>Asia/Africa is a region</a:t>
            </a:r>
          </a:p>
        </p:txBody>
      </p:sp>
    </p:spTree>
    <p:extLst>
      <p:ext uri="{BB962C8B-B14F-4D97-AF65-F5344CB8AC3E}">
        <p14:creationId xmlns:p14="http://schemas.microsoft.com/office/powerpoint/2010/main" val="1078373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CD1DD-0DB5-90D8-3E68-64755FA3F69C}"/>
              </a:ext>
            </a:extLst>
          </p:cNvPr>
          <p:cNvSpPr>
            <a:spLocks noGrp="1"/>
          </p:cNvSpPr>
          <p:nvPr>
            <p:ph type="title"/>
          </p:nvPr>
        </p:nvSpPr>
        <p:spPr/>
        <p:txBody>
          <a:bodyPr/>
          <a:lstStyle/>
          <a:p>
            <a:r>
              <a:rPr lang="en-US"/>
              <a:t>Threat environment</a:t>
            </a:r>
          </a:p>
        </p:txBody>
      </p:sp>
      <p:sp>
        <p:nvSpPr>
          <p:cNvPr id="3" name="Content Placeholder 2">
            <a:extLst>
              <a:ext uri="{FF2B5EF4-FFF2-40B4-BE49-F238E27FC236}">
                <a16:creationId xmlns:a16="http://schemas.microsoft.com/office/drawing/2014/main" id="{93D12557-50F0-3CED-387D-74E12AC99339}"/>
              </a:ext>
            </a:extLst>
          </p:cNvPr>
          <p:cNvSpPr>
            <a:spLocks noGrp="1"/>
          </p:cNvSpPr>
          <p:nvPr>
            <p:ph idx="1"/>
          </p:nvPr>
        </p:nvSpPr>
        <p:spPr/>
        <p:txBody>
          <a:bodyPr>
            <a:normAutofit fontScale="92500" lnSpcReduction="10000"/>
          </a:bodyPr>
          <a:lstStyle/>
          <a:p>
            <a:r>
              <a:rPr lang="en-US"/>
              <a:t>Not in conflict areas generally</a:t>
            </a:r>
          </a:p>
          <a:p>
            <a:r>
              <a:rPr lang="en-US"/>
              <a:t>Governments not on my list of adversaries</a:t>
            </a:r>
          </a:p>
          <a:p>
            <a:r>
              <a:rPr lang="en-US"/>
              <a:t>Increasingly decentralized</a:t>
            </a:r>
          </a:p>
          <a:p>
            <a:pPr lvl="1"/>
            <a:r>
              <a:rPr lang="en-US"/>
              <a:t>Not just the operating model</a:t>
            </a:r>
          </a:p>
          <a:p>
            <a:pPr lvl="1"/>
            <a:r>
              <a:rPr lang="en-US"/>
              <a:t>Also the work location</a:t>
            </a:r>
          </a:p>
          <a:p>
            <a:pPr lvl="1"/>
            <a:r>
              <a:rPr lang="en-US"/>
              <a:t>Service Delivery Points: our services closer to where kids/families are</a:t>
            </a:r>
          </a:p>
          <a:p>
            <a:r>
              <a:rPr lang="en-US"/>
              <a:t>Partner organizations increasingly important</a:t>
            </a:r>
          </a:p>
        </p:txBody>
      </p:sp>
    </p:spTree>
    <p:extLst>
      <p:ext uri="{BB962C8B-B14F-4D97-AF65-F5344CB8AC3E}">
        <p14:creationId xmlns:p14="http://schemas.microsoft.com/office/powerpoint/2010/main" val="1731604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F8B8D-CCD6-A6C4-764F-488EE7FB38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E589E0-5E6B-8D6F-3276-DB61C1CE56DD}"/>
              </a:ext>
            </a:extLst>
          </p:cNvPr>
          <p:cNvSpPr>
            <a:spLocks noGrp="1"/>
          </p:cNvSpPr>
          <p:nvPr>
            <p:ph type="title"/>
          </p:nvPr>
        </p:nvSpPr>
        <p:spPr/>
        <p:txBody>
          <a:bodyPr/>
          <a:lstStyle/>
          <a:p>
            <a:r>
              <a:rPr lang="en-US"/>
              <a:t>Threat environment—attacker profile</a:t>
            </a:r>
          </a:p>
        </p:txBody>
      </p:sp>
      <p:sp>
        <p:nvSpPr>
          <p:cNvPr id="3" name="Content Placeholder 2">
            <a:extLst>
              <a:ext uri="{FF2B5EF4-FFF2-40B4-BE49-F238E27FC236}">
                <a16:creationId xmlns:a16="http://schemas.microsoft.com/office/drawing/2014/main" id="{B300FD82-6D9E-1033-3BE1-128EF4A8A73A}"/>
              </a:ext>
            </a:extLst>
          </p:cNvPr>
          <p:cNvSpPr>
            <a:spLocks noGrp="1"/>
          </p:cNvSpPr>
          <p:nvPr>
            <p:ph idx="1"/>
          </p:nvPr>
        </p:nvSpPr>
        <p:spPr/>
        <p:txBody>
          <a:bodyPr>
            <a:normAutofit/>
          </a:bodyPr>
          <a:lstStyle/>
          <a:p>
            <a:r>
              <a:rPr lang="en-US"/>
              <a:t>Commodity malware</a:t>
            </a:r>
          </a:p>
          <a:p>
            <a:r>
              <a:rPr lang="en-US"/>
              <a:t>Motivated largely by financial gain</a:t>
            </a:r>
          </a:p>
          <a:p>
            <a:r>
              <a:rPr lang="en-US"/>
              <a:t>Phish, fraud emails targeting my exec team</a:t>
            </a:r>
          </a:p>
          <a:p>
            <a:r>
              <a:rPr lang="en-US"/>
              <a:t>Not seeing the signs of “Advanced Persistent Threat” actors (APT)</a:t>
            </a:r>
          </a:p>
        </p:txBody>
      </p:sp>
    </p:spTree>
    <p:extLst>
      <p:ext uri="{BB962C8B-B14F-4D97-AF65-F5344CB8AC3E}">
        <p14:creationId xmlns:p14="http://schemas.microsoft.com/office/powerpoint/2010/main" val="1086634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5B711-4A6C-B00F-D9B2-BEA7C841042A}"/>
              </a:ext>
            </a:extLst>
          </p:cNvPr>
          <p:cNvSpPr>
            <a:spLocks noGrp="1"/>
          </p:cNvSpPr>
          <p:nvPr>
            <p:ph type="title"/>
          </p:nvPr>
        </p:nvSpPr>
        <p:spPr/>
        <p:txBody>
          <a:bodyPr/>
          <a:lstStyle/>
          <a:p>
            <a:r>
              <a:rPr lang="en-US"/>
              <a:t>Key takeaway</a:t>
            </a:r>
          </a:p>
        </p:txBody>
      </p:sp>
      <p:sp>
        <p:nvSpPr>
          <p:cNvPr id="3" name="Content Placeholder 2">
            <a:extLst>
              <a:ext uri="{FF2B5EF4-FFF2-40B4-BE49-F238E27FC236}">
                <a16:creationId xmlns:a16="http://schemas.microsoft.com/office/drawing/2014/main" id="{228F5C7A-8B7A-86E6-084D-3570ADAD58C5}"/>
              </a:ext>
            </a:extLst>
          </p:cNvPr>
          <p:cNvSpPr>
            <a:spLocks noGrp="1"/>
          </p:cNvSpPr>
          <p:nvPr>
            <p:ph idx="1"/>
          </p:nvPr>
        </p:nvSpPr>
        <p:spPr>
          <a:xfrm>
            <a:off x="1030717" y="2283983"/>
            <a:ext cx="4169934" cy="3218610"/>
          </a:xfrm>
        </p:spPr>
        <p:txBody>
          <a:bodyPr/>
          <a:lstStyle/>
          <a:p>
            <a:pPr marL="0" indent="0">
              <a:buNone/>
            </a:pPr>
            <a:r>
              <a:rPr lang="en-US"/>
              <a:t>Turning up all the knobs on your tools may not make you “more secure”</a:t>
            </a:r>
          </a:p>
        </p:txBody>
      </p:sp>
      <p:pic>
        <p:nvPicPr>
          <p:cNvPr id="1026" name="Picture 2">
            <a:extLst>
              <a:ext uri="{FF2B5EF4-FFF2-40B4-BE49-F238E27FC236}">
                <a16:creationId xmlns:a16="http://schemas.microsoft.com/office/drawing/2014/main" id="{10AD8555-DF97-284F-F3F1-D8BB7B264A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7860" y="1992345"/>
            <a:ext cx="6008370" cy="3376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8383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F488-ED6A-7DB8-9758-48F7F2D30C32}"/>
              </a:ext>
            </a:extLst>
          </p:cNvPr>
          <p:cNvSpPr>
            <a:spLocks noGrp="1"/>
          </p:cNvSpPr>
          <p:nvPr>
            <p:ph type="title"/>
          </p:nvPr>
        </p:nvSpPr>
        <p:spPr/>
        <p:txBody>
          <a:bodyPr/>
          <a:lstStyle/>
          <a:p>
            <a:r>
              <a:rPr lang="en-US"/>
              <a:t>First pillar: Multifactor Auth</a:t>
            </a:r>
          </a:p>
        </p:txBody>
      </p:sp>
      <p:sp>
        <p:nvSpPr>
          <p:cNvPr id="3" name="Content Placeholder 2">
            <a:extLst>
              <a:ext uri="{FF2B5EF4-FFF2-40B4-BE49-F238E27FC236}">
                <a16:creationId xmlns:a16="http://schemas.microsoft.com/office/drawing/2014/main" id="{C4D67E01-D4FE-E9FA-D266-30AB2EABB2C8}"/>
              </a:ext>
            </a:extLst>
          </p:cNvPr>
          <p:cNvSpPr>
            <a:spLocks noGrp="1"/>
          </p:cNvSpPr>
          <p:nvPr>
            <p:ph idx="1"/>
          </p:nvPr>
        </p:nvSpPr>
        <p:spPr>
          <a:xfrm>
            <a:off x="838200" y="1825625"/>
            <a:ext cx="4820322" cy="4351338"/>
          </a:xfrm>
        </p:spPr>
        <p:txBody>
          <a:bodyPr/>
          <a:lstStyle/>
          <a:p>
            <a:pPr marL="0" indent="0">
              <a:buNone/>
            </a:pPr>
            <a:r>
              <a:rPr lang="en-US"/>
              <a:t>From</a:t>
            </a:r>
          </a:p>
          <a:p>
            <a:pPr marL="0" indent="0">
              <a:buNone/>
            </a:pPr>
            <a:r>
              <a:rPr lang="en-US" sz="2400"/>
              <a:t>13 Active Directory domains</a:t>
            </a:r>
          </a:p>
          <a:p>
            <a:pPr marL="0" indent="0">
              <a:buNone/>
            </a:pPr>
            <a:r>
              <a:rPr lang="en-US" sz="2400"/>
              <a:t>On-site domain controllers</a:t>
            </a:r>
          </a:p>
          <a:p>
            <a:pPr marL="0" indent="0">
              <a:buNone/>
            </a:pPr>
            <a:r>
              <a:rPr lang="en-US" sz="2400"/>
              <a:t>No standard onboard/offboard</a:t>
            </a:r>
          </a:p>
        </p:txBody>
      </p:sp>
      <p:sp>
        <p:nvSpPr>
          <p:cNvPr id="4" name="Content Placeholder 2">
            <a:extLst>
              <a:ext uri="{FF2B5EF4-FFF2-40B4-BE49-F238E27FC236}">
                <a16:creationId xmlns:a16="http://schemas.microsoft.com/office/drawing/2014/main" id="{39ABD896-56CE-7F6C-EC25-898C8AEF9CE4}"/>
              </a:ext>
            </a:extLst>
          </p:cNvPr>
          <p:cNvSpPr txBox="1">
            <a:spLocks/>
          </p:cNvSpPr>
          <p:nvPr/>
        </p:nvSpPr>
        <p:spPr>
          <a:xfrm>
            <a:off x="6533480" y="1825625"/>
            <a:ext cx="4820322"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5" name="Content Placeholder 2">
            <a:extLst>
              <a:ext uri="{FF2B5EF4-FFF2-40B4-BE49-F238E27FC236}">
                <a16:creationId xmlns:a16="http://schemas.microsoft.com/office/drawing/2014/main" id="{C8A40C12-D2AE-4B09-526C-EC87C80E6E52}"/>
              </a:ext>
            </a:extLst>
          </p:cNvPr>
          <p:cNvSpPr txBox="1">
            <a:spLocks/>
          </p:cNvSpPr>
          <p:nvPr/>
        </p:nvSpPr>
        <p:spPr>
          <a:xfrm>
            <a:off x="6533478" y="1825625"/>
            <a:ext cx="4820322"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To</a:t>
            </a:r>
          </a:p>
          <a:p>
            <a:pPr marL="0" indent="0">
              <a:buFont typeface="Arial" panose="020B0604020202020204" pitchFamily="34" charset="0"/>
              <a:buNone/>
            </a:pPr>
            <a:r>
              <a:rPr lang="en-US" sz="2400"/>
              <a:t>1 Entra ID tenant</a:t>
            </a:r>
          </a:p>
          <a:p>
            <a:pPr marL="0" indent="0">
              <a:buFont typeface="Arial" panose="020B0604020202020204" pitchFamily="34" charset="0"/>
              <a:buNone/>
            </a:pPr>
            <a:r>
              <a:rPr lang="en-US" sz="2400"/>
              <a:t>Cloud managed</a:t>
            </a:r>
          </a:p>
          <a:p>
            <a:pPr marL="0" indent="0">
              <a:buFont typeface="Arial" panose="020B0604020202020204" pitchFamily="34" charset="0"/>
              <a:buNone/>
            </a:pPr>
            <a:r>
              <a:rPr lang="en-US" sz="2400"/>
              <a:t>Automated onboard/offboard</a:t>
            </a:r>
          </a:p>
          <a:p>
            <a:pPr marL="0" indent="0">
              <a:buFont typeface="Arial" panose="020B0604020202020204" pitchFamily="34" charset="0"/>
              <a:buNone/>
            </a:pPr>
            <a:endParaRPr lang="en-US"/>
          </a:p>
        </p:txBody>
      </p:sp>
    </p:spTree>
    <p:extLst>
      <p:ext uri="{BB962C8B-B14F-4D97-AF65-F5344CB8AC3E}">
        <p14:creationId xmlns:p14="http://schemas.microsoft.com/office/powerpoint/2010/main" val="2623454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028B5-2F2A-C516-D4C8-9F473AEDE3C6}"/>
              </a:ext>
            </a:extLst>
          </p:cNvPr>
          <p:cNvSpPr>
            <a:spLocks noGrp="1"/>
          </p:cNvSpPr>
          <p:nvPr>
            <p:ph type="title"/>
          </p:nvPr>
        </p:nvSpPr>
        <p:spPr/>
        <p:txBody>
          <a:bodyPr/>
          <a:lstStyle/>
          <a:p>
            <a:r>
              <a:rPr lang="en-US"/>
              <a:t>Value of MFA+SSPR</a:t>
            </a:r>
          </a:p>
        </p:txBody>
      </p:sp>
      <p:sp>
        <p:nvSpPr>
          <p:cNvPr id="3" name="Content Placeholder 2">
            <a:extLst>
              <a:ext uri="{FF2B5EF4-FFF2-40B4-BE49-F238E27FC236}">
                <a16:creationId xmlns:a16="http://schemas.microsoft.com/office/drawing/2014/main" id="{8B54DDE2-CEED-1266-732D-2A5E3DD2EEE7}"/>
              </a:ext>
            </a:extLst>
          </p:cNvPr>
          <p:cNvSpPr>
            <a:spLocks noGrp="1"/>
          </p:cNvSpPr>
          <p:nvPr>
            <p:ph idx="1"/>
          </p:nvPr>
        </p:nvSpPr>
        <p:spPr/>
        <p:txBody>
          <a:bodyPr>
            <a:normAutofit lnSpcReduction="10000"/>
          </a:bodyPr>
          <a:lstStyle/>
          <a:p>
            <a:r>
              <a:rPr lang="en-US"/>
              <a:t>Attack disruption</a:t>
            </a:r>
          </a:p>
          <a:p>
            <a:r>
              <a:rPr lang="en-US"/>
              <a:t>Credential theft mitigation</a:t>
            </a:r>
          </a:p>
          <a:p>
            <a:r>
              <a:rPr lang="en-US"/>
              <a:t>Faster response in successful cred theft incidents (revoke session)</a:t>
            </a:r>
          </a:p>
          <a:p>
            <a:r>
              <a:rPr lang="en-US"/>
              <a:t>Can be risk-based, with self-remediation</a:t>
            </a:r>
          </a:p>
          <a:p>
            <a:r>
              <a:rPr lang="en-US"/>
              <a:t>Cornerstone of Identity protection</a:t>
            </a:r>
          </a:p>
        </p:txBody>
      </p:sp>
    </p:spTree>
    <p:extLst>
      <p:ext uri="{BB962C8B-B14F-4D97-AF65-F5344CB8AC3E}">
        <p14:creationId xmlns:p14="http://schemas.microsoft.com/office/powerpoint/2010/main" val="3266748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8EC38-7B08-46E0-B5CC-26657C0489B0}"/>
              </a:ext>
            </a:extLst>
          </p:cNvPr>
          <p:cNvSpPr>
            <a:spLocks noGrp="1"/>
          </p:cNvSpPr>
          <p:nvPr>
            <p:ph type="title"/>
          </p:nvPr>
        </p:nvSpPr>
        <p:spPr/>
        <p:txBody>
          <a:bodyPr/>
          <a:lstStyle/>
          <a:p>
            <a:r>
              <a:rPr lang="en-US"/>
              <a:t>Entra ID reports of vital interest	</a:t>
            </a:r>
          </a:p>
        </p:txBody>
      </p:sp>
      <p:sp>
        <p:nvSpPr>
          <p:cNvPr id="3" name="Content Placeholder 2">
            <a:extLst>
              <a:ext uri="{FF2B5EF4-FFF2-40B4-BE49-F238E27FC236}">
                <a16:creationId xmlns:a16="http://schemas.microsoft.com/office/drawing/2014/main" id="{4F249F63-7DB5-9706-3769-C107BA827DD9}"/>
              </a:ext>
            </a:extLst>
          </p:cNvPr>
          <p:cNvSpPr>
            <a:spLocks noGrp="1"/>
          </p:cNvSpPr>
          <p:nvPr>
            <p:ph idx="1"/>
          </p:nvPr>
        </p:nvSpPr>
        <p:spPr/>
        <p:txBody>
          <a:bodyPr/>
          <a:lstStyle/>
          <a:p>
            <a:r>
              <a:rPr lang="en-US"/>
              <a:t>Registration methods in use </a:t>
            </a:r>
            <a:r>
              <a:rPr lang="en-US">
                <a:hlinkClick r:id="rId3"/>
              </a:rPr>
              <a:t>Authentication methods - Microsoft Entra admin center</a:t>
            </a:r>
            <a:endParaRPr lang="en-US"/>
          </a:p>
          <a:p>
            <a:r>
              <a:rPr lang="en-US"/>
              <a:t>Identities not capable of SSPR </a:t>
            </a:r>
            <a:r>
              <a:rPr lang="en-US">
                <a:hlinkClick r:id="rId4"/>
              </a:rPr>
              <a:t>User registration details - Microsoft Entra admin center</a:t>
            </a:r>
            <a:endParaRPr lang="en-US"/>
          </a:p>
          <a:p>
            <a:r>
              <a:rPr lang="en-US"/>
              <a:t>Identities capable of SSPR </a:t>
            </a:r>
            <a:r>
              <a:rPr lang="en-US">
                <a:hlinkClick r:id="rId5"/>
              </a:rPr>
              <a:t>User registration details - Microsoft Entra admin center</a:t>
            </a:r>
            <a:endParaRPr lang="en-US"/>
          </a:p>
        </p:txBody>
      </p:sp>
    </p:spTree>
    <p:extLst>
      <p:ext uri="{BB962C8B-B14F-4D97-AF65-F5344CB8AC3E}">
        <p14:creationId xmlns:p14="http://schemas.microsoft.com/office/powerpoint/2010/main" val="3320906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6BE9B-DE76-15CD-5212-539A8CA0A6FE}"/>
              </a:ext>
            </a:extLst>
          </p:cNvPr>
          <p:cNvSpPr>
            <a:spLocks noGrp="1"/>
          </p:cNvSpPr>
          <p:nvPr>
            <p:ph type="title"/>
          </p:nvPr>
        </p:nvSpPr>
        <p:spPr/>
        <p:txBody>
          <a:bodyPr/>
          <a:lstStyle/>
          <a:p>
            <a:r>
              <a:rPr lang="en-US"/>
              <a:t>Second Pillar: Desktop Resilience</a:t>
            </a:r>
          </a:p>
        </p:txBody>
      </p:sp>
      <p:sp>
        <p:nvSpPr>
          <p:cNvPr id="6" name="Content Placeholder 2">
            <a:extLst>
              <a:ext uri="{FF2B5EF4-FFF2-40B4-BE49-F238E27FC236}">
                <a16:creationId xmlns:a16="http://schemas.microsoft.com/office/drawing/2014/main" id="{C1510844-0E41-B449-E13D-E073F18AC4F1}"/>
              </a:ext>
            </a:extLst>
          </p:cNvPr>
          <p:cNvSpPr>
            <a:spLocks noGrp="1"/>
          </p:cNvSpPr>
          <p:nvPr>
            <p:ph idx="1"/>
          </p:nvPr>
        </p:nvSpPr>
        <p:spPr>
          <a:xfrm>
            <a:off x="838200" y="1825625"/>
            <a:ext cx="4820322" cy="4351338"/>
          </a:xfrm>
        </p:spPr>
        <p:txBody>
          <a:bodyPr/>
          <a:lstStyle/>
          <a:p>
            <a:pPr marL="0" indent="0">
              <a:buNone/>
            </a:pPr>
            <a:r>
              <a:rPr lang="en-US"/>
              <a:t>From</a:t>
            </a:r>
          </a:p>
          <a:p>
            <a:pPr marL="0" indent="0">
              <a:buNone/>
            </a:pPr>
            <a:r>
              <a:rPr lang="en-US" sz="2400"/>
              <a:t>Inconsistent to no standards</a:t>
            </a:r>
          </a:p>
          <a:p>
            <a:pPr marL="0" indent="0">
              <a:buNone/>
            </a:pPr>
            <a:r>
              <a:rPr lang="en-US" sz="2400"/>
              <a:t>Image-based build (Desktop Central)</a:t>
            </a:r>
          </a:p>
          <a:p>
            <a:pPr marL="0" indent="0">
              <a:buNone/>
            </a:pPr>
            <a:r>
              <a:rPr lang="en-US" sz="2400"/>
              <a:t>Manual effort/high-touch</a:t>
            </a:r>
          </a:p>
          <a:p>
            <a:pPr marL="0" indent="0">
              <a:buNone/>
            </a:pPr>
            <a:r>
              <a:rPr lang="en-US" sz="2400"/>
              <a:t>Run past EOL</a:t>
            </a:r>
          </a:p>
        </p:txBody>
      </p:sp>
      <p:sp>
        <p:nvSpPr>
          <p:cNvPr id="7" name="Content Placeholder 2">
            <a:extLst>
              <a:ext uri="{FF2B5EF4-FFF2-40B4-BE49-F238E27FC236}">
                <a16:creationId xmlns:a16="http://schemas.microsoft.com/office/drawing/2014/main" id="{77243E7B-6288-B18E-D0F3-E8C2DD77B29E}"/>
              </a:ext>
            </a:extLst>
          </p:cNvPr>
          <p:cNvSpPr txBox="1">
            <a:spLocks/>
          </p:cNvSpPr>
          <p:nvPr/>
        </p:nvSpPr>
        <p:spPr>
          <a:xfrm>
            <a:off x="6533480" y="1825625"/>
            <a:ext cx="4820322"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To</a:t>
            </a:r>
          </a:p>
          <a:p>
            <a:pPr marL="0" indent="0">
              <a:buFont typeface="Arial" panose="020B0604020202020204" pitchFamily="34" charset="0"/>
              <a:buNone/>
            </a:pPr>
            <a:r>
              <a:rPr lang="en-US" sz="2400"/>
              <a:t>One global standard</a:t>
            </a:r>
          </a:p>
          <a:p>
            <a:pPr marL="0" indent="0">
              <a:buFont typeface="Arial" panose="020B0604020202020204" pitchFamily="34" charset="0"/>
              <a:buNone/>
            </a:pPr>
            <a:r>
              <a:rPr lang="en-US" sz="2400"/>
              <a:t>Leverage Intune automation</a:t>
            </a:r>
          </a:p>
          <a:p>
            <a:pPr marL="0" indent="0">
              <a:buFont typeface="Arial" panose="020B0604020202020204" pitchFamily="34" charset="0"/>
              <a:buNone/>
            </a:pPr>
            <a:r>
              <a:rPr lang="en-US" sz="2400"/>
              <a:t>&lt; 1 hour from reset to productive</a:t>
            </a:r>
          </a:p>
          <a:p>
            <a:pPr marL="0" indent="0">
              <a:buFont typeface="Arial" panose="020B0604020202020204" pitchFamily="34" charset="0"/>
              <a:buNone/>
            </a:pPr>
            <a:r>
              <a:rPr lang="en-US" sz="2400"/>
              <a:t>Staying current with autopatch</a:t>
            </a:r>
          </a:p>
        </p:txBody>
      </p:sp>
    </p:spTree>
    <p:extLst>
      <p:ext uri="{BB962C8B-B14F-4D97-AF65-F5344CB8AC3E}">
        <p14:creationId xmlns:p14="http://schemas.microsoft.com/office/powerpoint/2010/main" val="1057656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E613E-BA28-8064-1385-DD83401E4C03}"/>
              </a:ext>
            </a:extLst>
          </p:cNvPr>
          <p:cNvSpPr>
            <a:spLocks noGrp="1"/>
          </p:cNvSpPr>
          <p:nvPr>
            <p:ph type="title"/>
          </p:nvPr>
        </p:nvSpPr>
        <p:spPr/>
        <p:txBody>
          <a:bodyPr/>
          <a:lstStyle/>
          <a:p>
            <a:r>
              <a:rPr lang="en-US"/>
              <a:t>People were harder than process or technology</a:t>
            </a:r>
          </a:p>
        </p:txBody>
      </p:sp>
      <p:sp>
        <p:nvSpPr>
          <p:cNvPr id="3" name="Content Placeholder 2">
            <a:extLst>
              <a:ext uri="{FF2B5EF4-FFF2-40B4-BE49-F238E27FC236}">
                <a16:creationId xmlns:a16="http://schemas.microsoft.com/office/drawing/2014/main" id="{AF1C8E89-72D5-BBD9-806E-7F239A967E0D}"/>
              </a:ext>
            </a:extLst>
          </p:cNvPr>
          <p:cNvSpPr>
            <a:spLocks noGrp="1"/>
          </p:cNvSpPr>
          <p:nvPr>
            <p:ph idx="1"/>
          </p:nvPr>
        </p:nvSpPr>
        <p:spPr/>
        <p:txBody>
          <a:bodyPr/>
          <a:lstStyle/>
          <a:p>
            <a:r>
              <a:rPr lang="en-US"/>
              <a:t>Desktop support was a large part of how the support teams spent time</a:t>
            </a:r>
          </a:p>
          <a:p>
            <a:r>
              <a:rPr lang="en-US"/>
              <a:t>White-glove service seen as valuable by both supply/demand side</a:t>
            </a:r>
          </a:p>
          <a:p>
            <a:endParaRPr lang="en-US"/>
          </a:p>
        </p:txBody>
      </p:sp>
    </p:spTree>
    <p:extLst>
      <p:ext uri="{BB962C8B-B14F-4D97-AF65-F5344CB8AC3E}">
        <p14:creationId xmlns:p14="http://schemas.microsoft.com/office/powerpoint/2010/main" val="848105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85C07-0C0B-571D-93BF-BF56FA52F88E}"/>
              </a:ext>
            </a:extLst>
          </p:cNvPr>
          <p:cNvSpPr>
            <a:spLocks noGrp="1"/>
          </p:cNvSpPr>
          <p:nvPr>
            <p:ph type="title"/>
          </p:nvPr>
        </p:nvSpPr>
        <p:spPr/>
        <p:txBody>
          <a:bodyPr/>
          <a:lstStyle/>
          <a:p>
            <a:r>
              <a:rPr lang="en-US"/>
              <a:t>Huge value in fast, low-touch reset process</a:t>
            </a:r>
          </a:p>
        </p:txBody>
      </p:sp>
      <p:sp>
        <p:nvSpPr>
          <p:cNvPr id="3" name="Content Placeholder 2">
            <a:extLst>
              <a:ext uri="{FF2B5EF4-FFF2-40B4-BE49-F238E27FC236}">
                <a16:creationId xmlns:a16="http://schemas.microsoft.com/office/drawing/2014/main" id="{8F42152A-D9AF-122F-212F-80509E403F0B}"/>
              </a:ext>
            </a:extLst>
          </p:cNvPr>
          <p:cNvSpPr>
            <a:spLocks noGrp="1"/>
          </p:cNvSpPr>
          <p:nvPr>
            <p:ph idx="1"/>
          </p:nvPr>
        </p:nvSpPr>
        <p:spPr/>
        <p:txBody>
          <a:bodyPr/>
          <a:lstStyle/>
          <a:p>
            <a:r>
              <a:rPr lang="en-US"/>
              <a:t>Reset it if I don’t trust it</a:t>
            </a:r>
          </a:p>
          <a:p>
            <a:r>
              <a:rPr lang="en-US"/>
              <a:t>Can scale effectively</a:t>
            </a:r>
          </a:p>
          <a:p>
            <a:r>
              <a:rPr lang="en-US"/>
              <a:t>Ransomware (classic) not much of a concern</a:t>
            </a:r>
          </a:p>
          <a:p>
            <a:pPr marL="0" indent="0">
              <a:buNone/>
            </a:pPr>
            <a:endParaRPr lang="en-US"/>
          </a:p>
        </p:txBody>
      </p:sp>
    </p:spTree>
    <p:extLst>
      <p:ext uri="{BB962C8B-B14F-4D97-AF65-F5344CB8AC3E}">
        <p14:creationId xmlns:p14="http://schemas.microsoft.com/office/powerpoint/2010/main" val="41073048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089AF-9676-DFC8-3134-FA18A539F4DE}"/>
              </a:ext>
            </a:extLst>
          </p:cNvPr>
          <p:cNvSpPr>
            <a:spLocks noGrp="1"/>
          </p:cNvSpPr>
          <p:nvPr>
            <p:ph type="title"/>
          </p:nvPr>
        </p:nvSpPr>
        <p:spPr/>
        <p:txBody>
          <a:bodyPr/>
          <a:lstStyle/>
          <a:p>
            <a:r>
              <a:rPr lang="en-US"/>
              <a:t>High-value standards</a:t>
            </a:r>
          </a:p>
        </p:txBody>
      </p:sp>
      <p:sp>
        <p:nvSpPr>
          <p:cNvPr id="3" name="Content Placeholder 2">
            <a:extLst>
              <a:ext uri="{FF2B5EF4-FFF2-40B4-BE49-F238E27FC236}">
                <a16:creationId xmlns:a16="http://schemas.microsoft.com/office/drawing/2014/main" id="{2E1731C9-81A6-5527-D9B6-389B3F1D7D96}"/>
              </a:ext>
            </a:extLst>
          </p:cNvPr>
          <p:cNvSpPr>
            <a:spLocks noGrp="1"/>
          </p:cNvSpPr>
          <p:nvPr>
            <p:ph idx="1"/>
          </p:nvPr>
        </p:nvSpPr>
        <p:spPr/>
        <p:txBody>
          <a:bodyPr>
            <a:normAutofit/>
          </a:bodyPr>
          <a:lstStyle/>
          <a:p>
            <a:r>
              <a:rPr lang="en-US" err="1">
                <a:hlinkClick r:id="rId3"/>
              </a:rPr>
              <a:t>IntuneLAPS</a:t>
            </a:r>
            <a:r>
              <a:rPr lang="en-US"/>
              <a:t> – users are not admins of their machines</a:t>
            </a:r>
          </a:p>
          <a:p>
            <a:r>
              <a:rPr lang="en-US">
                <a:hlinkClick r:id="rId4"/>
              </a:rPr>
              <a:t>Attack Surface Reduction</a:t>
            </a:r>
            <a:r>
              <a:rPr lang="en-US"/>
              <a:t> Rules</a:t>
            </a:r>
          </a:p>
          <a:p>
            <a:r>
              <a:rPr lang="en-US"/>
              <a:t>Folder redirection (M365/OneDrive)</a:t>
            </a:r>
          </a:p>
          <a:p>
            <a:r>
              <a:rPr lang="en-US"/>
              <a:t>Automated push/install/update of standard software</a:t>
            </a:r>
          </a:p>
          <a:p>
            <a:r>
              <a:rPr lang="en-US"/>
              <a:t>Document your shop standards, and keep it up-to-date</a:t>
            </a:r>
          </a:p>
        </p:txBody>
      </p:sp>
    </p:spTree>
    <p:extLst>
      <p:ext uri="{BB962C8B-B14F-4D97-AF65-F5344CB8AC3E}">
        <p14:creationId xmlns:p14="http://schemas.microsoft.com/office/powerpoint/2010/main" val="1419113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54FE3-17F9-3051-86DC-1C9D79E0BF1E}"/>
              </a:ext>
            </a:extLst>
          </p:cNvPr>
          <p:cNvSpPr>
            <a:spLocks noGrp="1"/>
          </p:cNvSpPr>
          <p:nvPr>
            <p:ph type="title"/>
          </p:nvPr>
        </p:nvSpPr>
        <p:spPr/>
        <p:txBody>
          <a:bodyPr/>
          <a:lstStyle/>
          <a:p>
            <a:r>
              <a:rPr lang="en-US"/>
              <a:t>Third pillar: Endpoint protection </a:t>
            </a:r>
          </a:p>
        </p:txBody>
      </p:sp>
      <p:sp>
        <p:nvSpPr>
          <p:cNvPr id="4" name="Content Placeholder 2">
            <a:extLst>
              <a:ext uri="{FF2B5EF4-FFF2-40B4-BE49-F238E27FC236}">
                <a16:creationId xmlns:a16="http://schemas.microsoft.com/office/drawing/2014/main" id="{4797E8CA-8EC2-4725-D2A1-186F855A53E5}"/>
              </a:ext>
            </a:extLst>
          </p:cNvPr>
          <p:cNvSpPr>
            <a:spLocks noGrp="1"/>
          </p:cNvSpPr>
          <p:nvPr>
            <p:ph idx="1"/>
          </p:nvPr>
        </p:nvSpPr>
        <p:spPr>
          <a:xfrm>
            <a:off x="838200" y="1825625"/>
            <a:ext cx="4820322" cy="4351338"/>
          </a:xfrm>
        </p:spPr>
        <p:txBody>
          <a:bodyPr/>
          <a:lstStyle/>
          <a:p>
            <a:pPr marL="0" indent="0">
              <a:buNone/>
            </a:pPr>
            <a:r>
              <a:rPr lang="en-US"/>
              <a:t>From</a:t>
            </a:r>
          </a:p>
          <a:p>
            <a:pPr marL="0" indent="0">
              <a:buNone/>
            </a:pPr>
            <a:r>
              <a:rPr lang="en-US"/>
              <a:t>Trend Micro Apex One</a:t>
            </a:r>
          </a:p>
          <a:p>
            <a:pPr marL="0" indent="0">
              <a:buNone/>
            </a:pPr>
            <a:r>
              <a:rPr lang="en-US"/>
              <a:t>Not integrated</a:t>
            </a:r>
          </a:p>
          <a:p>
            <a:pPr marL="0" indent="0">
              <a:buNone/>
            </a:pPr>
            <a:r>
              <a:rPr lang="en-US"/>
              <a:t>Several inconsistent policies	</a:t>
            </a:r>
          </a:p>
        </p:txBody>
      </p:sp>
      <p:sp>
        <p:nvSpPr>
          <p:cNvPr id="5" name="Content Placeholder 2">
            <a:extLst>
              <a:ext uri="{FF2B5EF4-FFF2-40B4-BE49-F238E27FC236}">
                <a16:creationId xmlns:a16="http://schemas.microsoft.com/office/drawing/2014/main" id="{551AF5EB-8C94-28BE-9DF7-8DFC776CE884}"/>
              </a:ext>
            </a:extLst>
          </p:cNvPr>
          <p:cNvSpPr txBox="1">
            <a:spLocks/>
          </p:cNvSpPr>
          <p:nvPr/>
        </p:nvSpPr>
        <p:spPr>
          <a:xfrm>
            <a:off x="6533480" y="1825625"/>
            <a:ext cx="4820322"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To</a:t>
            </a:r>
          </a:p>
          <a:p>
            <a:pPr marL="0" indent="0">
              <a:buFont typeface="Arial" panose="020B0604020202020204" pitchFamily="34" charset="0"/>
              <a:buNone/>
            </a:pPr>
            <a:r>
              <a:rPr lang="en-US"/>
              <a:t>Microsoft Defender XDR</a:t>
            </a:r>
          </a:p>
          <a:p>
            <a:pPr marL="0" indent="0">
              <a:buFont typeface="Arial" panose="020B0604020202020204" pitchFamily="34" charset="0"/>
              <a:buNone/>
            </a:pPr>
            <a:r>
              <a:rPr lang="en-US" b="1"/>
              <a:t>Integrated</a:t>
            </a:r>
          </a:p>
          <a:p>
            <a:pPr marL="0" indent="0">
              <a:buFont typeface="Arial" panose="020B0604020202020204" pitchFamily="34" charset="0"/>
              <a:buNone/>
            </a:pPr>
            <a:r>
              <a:rPr lang="en-US"/>
              <a:t>One global configuration</a:t>
            </a:r>
          </a:p>
        </p:txBody>
      </p:sp>
    </p:spTree>
    <p:extLst>
      <p:ext uri="{BB962C8B-B14F-4D97-AF65-F5344CB8AC3E}">
        <p14:creationId xmlns:p14="http://schemas.microsoft.com/office/powerpoint/2010/main" val="4207706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E6956-2C6B-92C5-6DD2-ED9C3DA34417}"/>
              </a:ext>
            </a:extLst>
          </p:cNvPr>
          <p:cNvSpPr>
            <a:spLocks noGrp="1"/>
          </p:cNvSpPr>
          <p:nvPr>
            <p:ph type="title"/>
          </p:nvPr>
        </p:nvSpPr>
        <p:spPr/>
        <p:txBody>
          <a:bodyPr/>
          <a:lstStyle/>
          <a:p>
            <a:r>
              <a:rPr lang="en-US"/>
              <a:t>Value in process streamlining</a:t>
            </a:r>
          </a:p>
        </p:txBody>
      </p:sp>
      <p:sp>
        <p:nvSpPr>
          <p:cNvPr id="3" name="Content Placeholder 2">
            <a:extLst>
              <a:ext uri="{FF2B5EF4-FFF2-40B4-BE49-F238E27FC236}">
                <a16:creationId xmlns:a16="http://schemas.microsoft.com/office/drawing/2014/main" id="{BA2BC567-27C0-3BC3-EC98-23744D5B63EB}"/>
              </a:ext>
            </a:extLst>
          </p:cNvPr>
          <p:cNvSpPr>
            <a:spLocks noGrp="1"/>
          </p:cNvSpPr>
          <p:nvPr>
            <p:ph idx="1"/>
          </p:nvPr>
        </p:nvSpPr>
        <p:spPr/>
        <p:txBody>
          <a:bodyPr/>
          <a:lstStyle/>
          <a:p>
            <a:r>
              <a:rPr lang="en-US"/>
              <a:t>Antivirus either remediates issues automatically, or can’t</a:t>
            </a:r>
          </a:p>
          <a:p>
            <a:r>
              <a:rPr lang="en-US"/>
              <a:t>If I have low trust in the integrity of the endpoint, resetting is extremely attractive option</a:t>
            </a:r>
          </a:p>
          <a:p>
            <a:r>
              <a:rPr lang="en-US"/>
              <a:t>&lt; 1 hour to known good state</a:t>
            </a:r>
          </a:p>
          <a:p>
            <a:r>
              <a:rPr lang="en-US"/>
              <a:t>Local support staff coordinate more than they run the process</a:t>
            </a:r>
          </a:p>
        </p:txBody>
      </p:sp>
    </p:spTree>
    <p:extLst>
      <p:ext uri="{BB962C8B-B14F-4D97-AF65-F5344CB8AC3E}">
        <p14:creationId xmlns:p14="http://schemas.microsoft.com/office/powerpoint/2010/main" val="9337981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E57C0-087C-02D9-BCD6-026230A135CD}"/>
              </a:ext>
            </a:extLst>
          </p:cNvPr>
          <p:cNvSpPr>
            <a:spLocks noGrp="1"/>
          </p:cNvSpPr>
          <p:nvPr>
            <p:ph type="title"/>
          </p:nvPr>
        </p:nvSpPr>
        <p:spPr/>
        <p:txBody>
          <a:bodyPr/>
          <a:lstStyle/>
          <a:p>
            <a:r>
              <a:rPr lang="en-US"/>
              <a:t>Defender reports of vital interest</a:t>
            </a:r>
          </a:p>
        </p:txBody>
      </p:sp>
      <p:sp>
        <p:nvSpPr>
          <p:cNvPr id="3" name="Content Placeholder 2">
            <a:extLst>
              <a:ext uri="{FF2B5EF4-FFF2-40B4-BE49-F238E27FC236}">
                <a16:creationId xmlns:a16="http://schemas.microsoft.com/office/drawing/2014/main" id="{72F6986B-D513-2E4F-9AFE-21841FE7A10A}"/>
              </a:ext>
            </a:extLst>
          </p:cNvPr>
          <p:cNvSpPr>
            <a:spLocks noGrp="1"/>
          </p:cNvSpPr>
          <p:nvPr>
            <p:ph idx="1"/>
          </p:nvPr>
        </p:nvSpPr>
        <p:spPr/>
        <p:txBody>
          <a:bodyPr/>
          <a:lstStyle/>
          <a:p>
            <a:r>
              <a:rPr lang="en-US" dirty="0">
                <a:hlinkClick r:id="rId3"/>
              </a:rPr>
              <a:t>Devices with malware detections - Microsoft Defender</a:t>
            </a:r>
            <a:endParaRPr lang="en-US" dirty="0"/>
          </a:p>
          <a:p>
            <a:r>
              <a:rPr lang="en-US" dirty="0">
                <a:hlinkClick r:id="rId4"/>
              </a:rPr>
              <a:t>Device Health - Microsoft Defender</a:t>
            </a:r>
            <a:endParaRPr lang="en-US" dirty="0"/>
          </a:p>
          <a:p>
            <a:r>
              <a:rPr lang="en-US" dirty="0"/>
              <a:t>You may choose to use the content filtering features of Defender—I chose to implement that using Cloudflare</a:t>
            </a:r>
          </a:p>
          <a:p>
            <a:r>
              <a:rPr lang="en-US" dirty="0">
                <a:hlinkClick r:id="rId5"/>
              </a:rPr>
              <a:t>Web Protection - Microsoft Defender</a:t>
            </a:r>
            <a:endParaRPr lang="en-US" dirty="0"/>
          </a:p>
        </p:txBody>
      </p:sp>
    </p:spTree>
    <p:extLst>
      <p:ext uri="{BB962C8B-B14F-4D97-AF65-F5344CB8AC3E}">
        <p14:creationId xmlns:p14="http://schemas.microsoft.com/office/powerpoint/2010/main" val="77852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BB617-D640-5F6E-6ECF-D6DB58A3C875}"/>
              </a:ext>
            </a:extLst>
          </p:cNvPr>
          <p:cNvSpPr>
            <a:spLocks noGrp="1"/>
          </p:cNvSpPr>
          <p:nvPr>
            <p:ph type="title"/>
          </p:nvPr>
        </p:nvSpPr>
        <p:spPr/>
        <p:txBody>
          <a:bodyPr/>
          <a:lstStyle/>
          <a:p>
            <a:r>
              <a:rPr lang="en-US"/>
              <a:t>Fourth pillar: Network Protection</a:t>
            </a:r>
          </a:p>
        </p:txBody>
      </p:sp>
      <p:sp>
        <p:nvSpPr>
          <p:cNvPr id="6" name="Content Placeholder 2">
            <a:extLst>
              <a:ext uri="{FF2B5EF4-FFF2-40B4-BE49-F238E27FC236}">
                <a16:creationId xmlns:a16="http://schemas.microsoft.com/office/drawing/2014/main" id="{69BCE7E7-639B-03D9-3DDA-1614B791EA1D}"/>
              </a:ext>
            </a:extLst>
          </p:cNvPr>
          <p:cNvSpPr>
            <a:spLocks noGrp="1"/>
          </p:cNvSpPr>
          <p:nvPr>
            <p:ph idx="1"/>
          </p:nvPr>
        </p:nvSpPr>
        <p:spPr>
          <a:xfrm>
            <a:off x="838200" y="1825625"/>
            <a:ext cx="4820322" cy="4351338"/>
          </a:xfrm>
        </p:spPr>
        <p:txBody>
          <a:bodyPr>
            <a:normAutofit lnSpcReduction="10000"/>
          </a:bodyPr>
          <a:lstStyle/>
          <a:p>
            <a:pPr marL="0" indent="0">
              <a:buNone/>
            </a:pPr>
            <a:r>
              <a:rPr lang="en-US"/>
              <a:t>From</a:t>
            </a:r>
          </a:p>
          <a:p>
            <a:pPr marL="0" indent="0">
              <a:buNone/>
            </a:pPr>
            <a:r>
              <a:rPr lang="en-US"/>
              <a:t>SonicWall content filtering</a:t>
            </a:r>
          </a:p>
          <a:p>
            <a:pPr marL="0" indent="0">
              <a:buNone/>
            </a:pPr>
            <a:r>
              <a:rPr lang="en-US"/>
              <a:t>Location-bound	</a:t>
            </a:r>
          </a:p>
          <a:p>
            <a:pPr marL="0" indent="0">
              <a:buNone/>
            </a:pPr>
            <a:r>
              <a:rPr lang="en-US"/>
              <a:t>Locally-tailored policies</a:t>
            </a:r>
          </a:p>
          <a:p>
            <a:pPr marL="0" indent="0">
              <a:buNone/>
            </a:pPr>
            <a:r>
              <a:rPr lang="en-US"/>
              <a:t>Locally managed, with an overlay</a:t>
            </a:r>
          </a:p>
        </p:txBody>
      </p:sp>
      <p:sp>
        <p:nvSpPr>
          <p:cNvPr id="7" name="Content Placeholder 2">
            <a:extLst>
              <a:ext uri="{FF2B5EF4-FFF2-40B4-BE49-F238E27FC236}">
                <a16:creationId xmlns:a16="http://schemas.microsoft.com/office/drawing/2014/main" id="{BF8E2007-B753-0FD8-A8C6-57514191F27B}"/>
              </a:ext>
            </a:extLst>
          </p:cNvPr>
          <p:cNvSpPr txBox="1">
            <a:spLocks/>
          </p:cNvSpPr>
          <p:nvPr/>
        </p:nvSpPr>
        <p:spPr>
          <a:xfrm>
            <a:off x="6533480" y="1825625"/>
            <a:ext cx="4820322"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To</a:t>
            </a:r>
          </a:p>
          <a:p>
            <a:pPr marL="0" indent="0">
              <a:buFont typeface="Arial" panose="020B0604020202020204" pitchFamily="34" charset="0"/>
              <a:buNone/>
            </a:pPr>
            <a:r>
              <a:rPr lang="en-US"/>
              <a:t>Cloudflare WARP client ($0)</a:t>
            </a:r>
          </a:p>
          <a:p>
            <a:pPr marL="0" indent="0">
              <a:buFont typeface="Arial" panose="020B0604020202020204" pitchFamily="34" charset="0"/>
              <a:buNone/>
            </a:pPr>
            <a:r>
              <a:rPr lang="en-US"/>
              <a:t>Location-independent</a:t>
            </a:r>
          </a:p>
          <a:p>
            <a:pPr marL="0" indent="0">
              <a:buFont typeface="Arial" panose="020B0604020202020204" pitchFamily="34" charset="0"/>
              <a:buNone/>
            </a:pPr>
            <a:r>
              <a:rPr lang="en-US"/>
              <a:t>One global content policy</a:t>
            </a:r>
          </a:p>
          <a:p>
            <a:pPr marL="0" indent="0">
              <a:buFont typeface="Arial" panose="020B0604020202020204" pitchFamily="34" charset="0"/>
              <a:buNone/>
            </a:pPr>
            <a:r>
              <a:rPr lang="en-US"/>
              <a:t>Cloud-managed</a:t>
            </a:r>
          </a:p>
        </p:txBody>
      </p:sp>
    </p:spTree>
    <p:extLst>
      <p:ext uri="{BB962C8B-B14F-4D97-AF65-F5344CB8AC3E}">
        <p14:creationId xmlns:p14="http://schemas.microsoft.com/office/powerpoint/2010/main" val="20619760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BEC9E-A4FA-EB3D-391A-02D2E411CB05}"/>
              </a:ext>
            </a:extLst>
          </p:cNvPr>
          <p:cNvSpPr>
            <a:spLocks noGrp="1"/>
          </p:cNvSpPr>
          <p:nvPr>
            <p:ph type="title"/>
          </p:nvPr>
        </p:nvSpPr>
        <p:spPr/>
        <p:txBody>
          <a:bodyPr/>
          <a:lstStyle/>
          <a:p>
            <a:r>
              <a:rPr lang="en-US"/>
              <a:t>Value in content filtering</a:t>
            </a:r>
          </a:p>
        </p:txBody>
      </p:sp>
      <p:sp>
        <p:nvSpPr>
          <p:cNvPr id="3" name="Content Placeholder 2">
            <a:extLst>
              <a:ext uri="{FF2B5EF4-FFF2-40B4-BE49-F238E27FC236}">
                <a16:creationId xmlns:a16="http://schemas.microsoft.com/office/drawing/2014/main" id="{83949F73-C43B-5AE4-C403-F8482DB96A9A}"/>
              </a:ext>
            </a:extLst>
          </p:cNvPr>
          <p:cNvSpPr>
            <a:spLocks noGrp="1"/>
          </p:cNvSpPr>
          <p:nvPr>
            <p:ph idx="1"/>
          </p:nvPr>
        </p:nvSpPr>
        <p:spPr/>
        <p:txBody>
          <a:bodyPr/>
          <a:lstStyle/>
          <a:p>
            <a:r>
              <a:rPr lang="en-US"/>
              <a:t>3 specific goals of the policy set:</a:t>
            </a:r>
          </a:p>
          <a:p>
            <a:pPr lvl="1"/>
            <a:r>
              <a:rPr lang="en-US"/>
              <a:t>Restrict web traffic to “school-safe”</a:t>
            </a:r>
          </a:p>
          <a:p>
            <a:pPr lvl="1"/>
            <a:r>
              <a:rPr lang="en-US"/>
              <a:t>Enforce safe search on search engines</a:t>
            </a:r>
          </a:p>
          <a:p>
            <a:pPr lvl="1"/>
            <a:r>
              <a:rPr lang="en-US"/>
              <a:t>Enforce YouTube restricted mode</a:t>
            </a:r>
          </a:p>
          <a:p>
            <a:r>
              <a:rPr lang="en-US"/>
              <a:t>Bonus: blocking new domains easily</a:t>
            </a:r>
          </a:p>
          <a:p>
            <a:r>
              <a:rPr lang="en-US"/>
              <a:t>Bonus: DNS-based implementation, agentless coverage</a:t>
            </a:r>
          </a:p>
        </p:txBody>
      </p:sp>
    </p:spTree>
    <p:extLst>
      <p:ext uri="{BB962C8B-B14F-4D97-AF65-F5344CB8AC3E}">
        <p14:creationId xmlns:p14="http://schemas.microsoft.com/office/powerpoint/2010/main" val="34979306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983AB-D4A4-415F-8880-7826D8732732}"/>
              </a:ext>
            </a:extLst>
          </p:cNvPr>
          <p:cNvSpPr>
            <a:spLocks noGrp="1"/>
          </p:cNvSpPr>
          <p:nvPr>
            <p:ph type="title"/>
          </p:nvPr>
        </p:nvSpPr>
        <p:spPr/>
        <p:txBody>
          <a:bodyPr/>
          <a:lstStyle/>
          <a:p>
            <a:r>
              <a:rPr lang="en-US"/>
              <a:t>WARP reports of vital interest	</a:t>
            </a:r>
          </a:p>
        </p:txBody>
      </p:sp>
      <p:sp>
        <p:nvSpPr>
          <p:cNvPr id="3" name="Content Placeholder 2">
            <a:extLst>
              <a:ext uri="{FF2B5EF4-FFF2-40B4-BE49-F238E27FC236}">
                <a16:creationId xmlns:a16="http://schemas.microsoft.com/office/drawing/2014/main" id="{8963F7B0-7B34-8294-3BC5-85F3BE39504D}"/>
              </a:ext>
            </a:extLst>
          </p:cNvPr>
          <p:cNvSpPr>
            <a:spLocks noGrp="1"/>
          </p:cNvSpPr>
          <p:nvPr>
            <p:ph idx="1"/>
          </p:nvPr>
        </p:nvSpPr>
        <p:spPr/>
        <p:txBody>
          <a:bodyPr/>
          <a:lstStyle/>
          <a:p>
            <a:r>
              <a:rPr lang="en-US">
                <a:hlinkClick r:id="rId3"/>
              </a:rPr>
              <a:t>DNS query analytics - Cloudflare One</a:t>
            </a:r>
            <a:endParaRPr lang="en-US"/>
          </a:p>
          <a:p>
            <a:r>
              <a:rPr lang="en-US">
                <a:hlinkClick r:id="rId4"/>
              </a:rPr>
              <a:t>Digital experience - Cloudflare One</a:t>
            </a:r>
            <a:endParaRPr lang="en-US"/>
          </a:p>
          <a:p>
            <a:endParaRPr lang="en-US"/>
          </a:p>
        </p:txBody>
      </p:sp>
    </p:spTree>
    <p:extLst>
      <p:ext uri="{BB962C8B-B14F-4D97-AF65-F5344CB8AC3E}">
        <p14:creationId xmlns:p14="http://schemas.microsoft.com/office/powerpoint/2010/main" val="5760110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B44E6-E1D5-3192-3F0E-1FB7B508E33D}"/>
              </a:ext>
            </a:extLst>
          </p:cNvPr>
          <p:cNvSpPr>
            <a:spLocks noGrp="1"/>
          </p:cNvSpPr>
          <p:nvPr>
            <p:ph type="title"/>
          </p:nvPr>
        </p:nvSpPr>
        <p:spPr/>
        <p:txBody>
          <a:bodyPr/>
          <a:lstStyle/>
          <a:p>
            <a:r>
              <a:rPr lang="en-US"/>
              <a:t>Fifth pillar: SOC automation</a:t>
            </a:r>
          </a:p>
        </p:txBody>
      </p:sp>
      <p:sp>
        <p:nvSpPr>
          <p:cNvPr id="4" name="Content Placeholder 2">
            <a:extLst>
              <a:ext uri="{FF2B5EF4-FFF2-40B4-BE49-F238E27FC236}">
                <a16:creationId xmlns:a16="http://schemas.microsoft.com/office/drawing/2014/main" id="{3EE2ABA3-BFBE-A3D4-2C3B-E4EBE998F334}"/>
              </a:ext>
            </a:extLst>
          </p:cNvPr>
          <p:cNvSpPr txBox="1">
            <a:spLocks/>
          </p:cNvSpPr>
          <p:nvPr/>
        </p:nvSpPr>
        <p:spPr>
          <a:xfrm>
            <a:off x="838200" y="1825625"/>
            <a:ext cx="4820322"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From</a:t>
            </a:r>
          </a:p>
          <a:p>
            <a:pPr marL="0" indent="0">
              <a:buFont typeface="Arial" panose="020B0604020202020204" pitchFamily="34" charset="0"/>
              <a:buNone/>
            </a:pPr>
            <a:r>
              <a:rPr lang="en-US"/>
              <a:t>Disparate tools</a:t>
            </a:r>
          </a:p>
          <a:p>
            <a:pPr marL="0" indent="0">
              <a:buFont typeface="Arial" panose="020B0604020202020204" pitchFamily="34" charset="0"/>
              <a:buNone/>
            </a:pPr>
            <a:r>
              <a:rPr lang="en-US"/>
              <a:t>Inconsistent logging</a:t>
            </a:r>
          </a:p>
          <a:p>
            <a:pPr marL="0" indent="0">
              <a:buFont typeface="Arial" panose="020B0604020202020204" pitchFamily="34" charset="0"/>
              <a:buNone/>
            </a:pPr>
            <a:r>
              <a:rPr lang="en-US"/>
              <a:t>Unknown retention</a:t>
            </a:r>
          </a:p>
          <a:p>
            <a:pPr marL="0" indent="0">
              <a:buFont typeface="Arial" panose="020B0604020202020204" pitchFamily="34" charset="0"/>
              <a:buNone/>
            </a:pPr>
            <a:r>
              <a:rPr lang="en-US"/>
              <a:t>No analytics</a:t>
            </a:r>
          </a:p>
        </p:txBody>
      </p:sp>
      <p:sp>
        <p:nvSpPr>
          <p:cNvPr id="5" name="Content Placeholder 2">
            <a:extLst>
              <a:ext uri="{FF2B5EF4-FFF2-40B4-BE49-F238E27FC236}">
                <a16:creationId xmlns:a16="http://schemas.microsoft.com/office/drawing/2014/main" id="{BFCC6492-573E-3B7F-3000-A317D01D5AFC}"/>
              </a:ext>
            </a:extLst>
          </p:cNvPr>
          <p:cNvSpPr txBox="1">
            <a:spLocks/>
          </p:cNvSpPr>
          <p:nvPr/>
        </p:nvSpPr>
        <p:spPr>
          <a:xfrm>
            <a:off x="6533480" y="1825625"/>
            <a:ext cx="4820322"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To</a:t>
            </a:r>
          </a:p>
          <a:p>
            <a:pPr marL="0" indent="0">
              <a:buFont typeface="Arial" panose="020B0604020202020204" pitchFamily="34" charset="0"/>
              <a:buNone/>
            </a:pPr>
            <a:r>
              <a:rPr lang="en-US"/>
              <a:t>M365 </a:t>
            </a:r>
            <a:r>
              <a:rPr lang="en-US" strike="sngStrike"/>
              <a:t>fully</a:t>
            </a:r>
            <a:r>
              <a:rPr lang="en-US"/>
              <a:t> highly leveraged</a:t>
            </a:r>
          </a:p>
          <a:p>
            <a:pPr marL="0" indent="0">
              <a:buFont typeface="Arial" panose="020B0604020202020204" pitchFamily="34" charset="0"/>
              <a:buNone/>
            </a:pPr>
            <a:r>
              <a:rPr lang="en-US"/>
              <a:t>Key services log to Sentinel</a:t>
            </a:r>
          </a:p>
          <a:p>
            <a:pPr marL="0" indent="0">
              <a:buFont typeface="Arial" panose="020B0604020202020204" pitchFamily="34" charset="0"/>
              <a:buNone/>
            </a:pPr>
            <a:r>
              <a:rPr lang="en-US"/>
              <a:t>Defined retention</a:t>
            </a:r>
          </a:p>
          <a:p>
            <a:pPr marL="0" indent="0">
              <a:buFont typeface="Arial" panose="020B0604020202020204" pitchFamily="34" charset="0"/>
              <a:buNone/>
            </a:pPr>
            <a:r>
              <a:rPr lang="en-US"/>
              <a:t>172 analytics rules, 37 tuned</a:t>
            </a:r>
          </a:p>
        </p:txBody>
      </p:sp>
    </p:spTree>
    <p:extLst>
      <p:ext uri="{BB962C8B-B14F-4D97-AF65-F5344CB8AC3E}">
        <p14:creationId xmlns:p14="http://schemas.microsoft.com/office/powerpoint/2010/main" val="16129018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D36DB-A360-487D-FCD6-6F0899B67D50}"/>
              </a:ext>
            </a:extLst>
          </p:cNvPr>
          <p:cNvSpPr>
            <a:spLocks noGrp="1"/>
          </p:cNvSpPr>
          <p:nvPr>
            <p:ph type="title"/>
          </p:nvPr>
        </p:nvSpPr>
        <p:spPr/>
        <p:txBody>
          <a:bodyPr/>
          <a:lstStyle/>
          <a:p>
            <a:r>
              <a:rPr lang="en-US"/>
              <a:t>Value in automating incident response</a:t>
            </a:r>
          </a:p>
        </p:txBody>
      </p:sp>
      <p:sp>
        <p:nvSpPr>
          <p:cNvPr id="3" name="Content Placeholder 2">
            <a:extLst>
              <a:ext uri="{FF2B5EF4-FFF2-40B4-BE49-F238E27FC236}">
                <a16:creationId xmlns:a16="http://schemas.microsoft.com/office/drawing/2014/main" id="{3E3E33E5-F621-7709-7A38-0C375CDDC746}"/>
              </a:ext>
            </a:extLst>
          </p:cNvPr>
          <p:cNvSpPr>
            <a:spLocks noGrp="1"/>
          </p:cNvSpPr>
          <p:nvPr>
            <p:ph idx="1"/>
          </p:nvPr>
        </p:nvSpPr>
        <p:spPr>
          <a:xfrm>
            <a:off x="7268308" y="1825625"/>
            <a:ext cx="4085492" cy="4351338"/>
          </a:xfrm>
        </p:spPr>
        <p:txBody>
          <a:bodyPr/>
          <a:lstStyle/>
          <a:p>
            <a:r>
              <a:rPr lang="en-US" sz="2400"/>
              <a:t>Log -&gt; alert -&gt; incident -&gt; remediation -&gt; report can be automated</a:t>
            </a:r>
          </a:p>
          <a:p>
            <a:endParaRPr lang="en-US"/>
          </a:p>
        </p:txBody>
      </p:sp>
      <p:pic>
        <p:nvPicPr>
          <p:cNvPr id="5" name="Picture 4">
            <a:extLst>
              <a:ext uri="{FF2B5EF4-FFF2-40B4-BE49-F238E27FC236}">
                <a16:creationId xmlns:a16="http://schemas.microsoft.com/office/drawing/2014/main" id="{DD2B4BC6-7FF2-C5A6-AA4A-CBC907154999}"/>
              </a:ext>
            </a:extLst>
          </p:cNvPr>
          <p:cNvPicPr>
            <a:picLocks noChangeAspect="1"/>
          </p:cNvPicPr>
          <p:nvPr/>
        </p:nvPicPr>
        <p:blipFill>
          <a:blip r:embed="rId3"/>
          <a:stretch>
            <a:fillRect/>
          </a:stretch>
        </p:blipFill>
        <p:spPr>
          <a:xfrm>
            <a:off x="838200" y="1825625"/>
            <a:ext cx="6192114" cy="3477110"/>
          </a:xfrm>
          <a:prstGeom prst="rect">
            <a:avLst/>
          </a:prstGeom>
        </p:spPr>
      </p:pic>
    </p:spTree>
    <p:extLst>
      <p:ext uri="{BB962C8B-B14F-4D97-AF65-F5344CB8AC3E}">
        <p14:creationId xmlns:p14="http://schemas.microsoft.com/office/powerpoint/2010/main" val="30105664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0662B-DE9E-CDE8-E408-4AFA7013A3EC}"/>
              </a:ext>
            </a:extLst>
          </p:cNvPr>
          <p:cNvSpPr>
            <a:spLocks noGrp="1"/>
          </p:cNvSpPr>
          <p:nvPr>
            <p:ph type="title"/>
          </p:nvPr>
        </p:nvSpPr>
        <p:spPr/>
        <p:txBody>
          <a:bodyPr/>
          <a:lstStyle/>
          <a:p>
            <a:r>
              <a:rPr lang="en-US"/>
              <a:t>SOC reports of vital interest	</a:t>
            </a:r>
          </a:p>
        </p:txBody>
      </p:sp>
      <p:sp>
        <p:nvSpPr>
          <p:cNvPr id="3" name="Content Placeholder 2">
            <a:extLst>
              <a:ext uri="{FF2B5EF4-FFF2-40B4-BE49-F238E27FC236}">
                <a16:creationId xmlns:a16="http://schemas.microsoft.com/office/drawing/2014/main" id="{02BED50A-6D4D-AC34-8864-F55B6128AC1E}"/>
              </a:ext>
            </a:extLst>
          </p:cNvPr>
          <p:cNvSpPr>
            <a:spLocks noGrp="1"/>
          </p:cNvSpPr>
          <p:nvPr>
            <p:ph idx="1"/>
          </p:nvPr>
        </p:nvSpPr>
        <p:spPr/>
        <p:txBody>
          <a:bodyPr/>
          <a:lstStyle/>
          <a:p>
            <a:r>
              <a:rPr lang="en-US" dirty="0">
                <a:hlinkClick r:id="rId3"/>
              </a:rPr>
              <a:t>Value Reflection - Microsoft Defender</a:t>
            </a:r>
            <a:endParaRPr lang="en-US" dirty="0"/>
          </a:p>
          <a:p>
            <a:r>
              <a:rPr lang="en-US" dirty="0">
                <a:hlinkClick r:id="rId4"/>
              </a:rPr>
              <a:t>Workbook - Microsoft Defender</a:t>
            </a:r>
            <a:r>
              <a:rPr lang="en-US" dirty="0"/>
              <a:t> (SOC Efficiency Sentinel Workbook)</a:t>
            </a:r>
          </a:p>
          <a:p>
            <a:r>
              <a:rPr lang="en-US" dirty="0">
                <a:hlinkClick r:id="rId5"/>
              </a:rPr>
              <a:t>Cases - Microsoft Defender</a:t>
            </a:r>
            <a:r>
              <a:rPr lang="en-US" dirty="0"/>
              <a:t> (not really a report, but I’ll list it here anyhow)</a:t>
            </a:r>
          </a:p>
          <a:p>
            <a:endParaRPr lang="en-US" dirty="0"/>
          </a:p>
        </p:txBody>
      </p:sp>
    </p:spTree>
    <p:extLst>
      <p:ext uri="{BB962C8B-B14F-4D97-AF65-F5344CB8AC3E}">
        <p14:creationId xmlns:p14="http://schemas.microsoft.com/office/powerpoint/2010/main" val="18824153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8F7FA-FB8C-F6E7-3AEB-0ABF48A18C05}"/>
              </a:ext>
            </a:extLst>
          </p:cNvPr>
          <p:cNvSpPr>
            <a:spLocks noGrp="1"/>
          </p:cNvSpPr>
          <p:nvPr>
            <p:ph type="title"/>
          </p:nvPr>
        </p:nvSpPr>
        <p:spPr/>
        <p:txBody>
          <a:bodyPr/>
          <a:lstStyle/>
          <a:p>
            <a:r>
              <a:rPr lang="en-US"/>
              <a:t>Sixth pillar: WLAN protections</a:t>
            </a:r>
          </a:p>
        </p:txBody>
      </p:sp>
      <p:sp>
        <p:nvSpPr>
          <p:cNvPr id="4" name="Content Placeholder 2">
            <a:extLst>
              <a:ext uri="{FF2B5EF4-FFF2-40B4-BE49-F238E27FC236}">
                <a16:creationId xmlns:a16="http://schemas.microsoft.com/office/drawing/2014/main" id="{B4342198-2C2D-786F-3D6D-3337598E59DE}"/>
              </a:ext>
            </a:extLst>
          </p:cNvPr>
          <p:cNvSpPr txBox="1">
            <a:spLocks/>
          </p:cNvSpPr>
          <p:nvPr/>
        </p:nvSpPr>
        <p:spPr>
          <a:xfrm>
            <a:off x="838200" y="1825625"/>
            <a:ext cx="4820322" cy="4351338"/>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From</a:t>
            </a:r>
          </a:p>
          <a:p>
            <a:pPr marL="0" indent="0">
              <a:buFont typeface="Arial" panose="020B0604020202020204" pitchFamily="34" charset="0"/>
              <a:buNone/>
            </a:pPr>
            <a:r>
              <a:rPr lang="en-US"/>
              <a:t>Nothing centrally provided</a:t>
            </a:r>
          </a:p>
          <a:p>
            <a:pPr marL="0" indent="0">
              <a:buFont typeface="Arial" panose="020B0604020202020204" pitchFamily="34" charset="0"/>
              <a:buNone/>
            </a:pPr>
            <a:r>
              <a:rPr lang="en-US"/>
              <a:t>Inconsistent logging</a:t>
            </a:r>
          </a:p>
          <a:p>
            <a:pPr marL="0" indent="0">
              <a:buFont typeface="Arial" panose="020B0604020202020204" pitchFamily="34" charset="0"/>
              <a:buNone/>
            </a:pPr>
            <a:r>
              <a:rPr lang="en-US"/>
              <a:t>Various implementations</a:t>
            </a:r>
          </a:p>
          <a:p>
            <a:pPr marL="0" indent="0">
              <a:buFont typeface="Arial" panose="020B0604020202020204" pitchFamily="34" charset="0"/>
              <a:buNone/>
            </a:pPr>
            <a:r>
              <a:rPr lang="en-US"/>
              <a:t>Basic segmentation</a:t>
            </a:r>
          </a:p>
        </p:txBody>
      </p:sp>
      <p:sp>
        <p:nvSpPr>
          <p:cNvPr id="5" name="Content Placeholder 2">
            <a:extLst>
              <a:ext uri="{FF2B5EF4-FFF2-40B4-BE49-F238E27FC236}">
                <a16:creationId xmlns:a16="http://schemas.microsoft.com/office/drawing/2014/main" id="{1287B100-8604-9E41-C034-A8D3586BF680}"/>
              </a:ext>
            </a:extLst>
          </p:cNvPr>
          <p:cNvSpPr txBox="1">
            <a:spLocks/>
          </p:cNvSpPr>
          <p:nvPr/>
        </p:nvSpPr>
        <p:spPr>
          <a:xfrm>
            <a:off x="6533480" y="1825625"/>
            <a:ext cx="4820322"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To</a:t>
            </a:r>
          </a:p>
          <a:p>
            <a:pPr marL="0" indent="0">
              <a:buFont typeface="Arial" panose="020B0604020202020204" pitchFamily="34" charset="0"/>
              <a:buNone/>
            </a:pPr>
            <a:r>
              <a:rPr lang="en-US"/>
              <a:t>Fortinet +cloud management</a:t>
            </a:r>
          </a:p>
          <a:p>
            <a:pPr marL="0" indent="0">
              <a:buFont typeface="Arial" panose="020B0604020202020204" pitchFamily="34" charset="0"/>
              <a:buNone/>
            </a:pPr>
            <a:r>
              <a:rPr lang="en-US"/>
              <a:t>Log to </a:t>
            </a:r>
            <a:r>
              <a:rPr lang="en-US" err="1"/>
              <a:t>Fortianalyzer</a:t>
            </a:r>
            <a:endParaRPr lang="en-US"/>
          </a:p>
          <a:p>
            <a:pPr marL="0" indent="0">
              <a:buFont typeface="Arial" panose="020B0604020202020204" pitchFamily="34" charset="0"/>
              <a:buNone/>
            </a:pPr>
            <a:r>
              <a:rPr lang="en-US"/>
              <a:t>Single Sign On with Entra</a:t>
            </a:r>
          </a:p>
          <a:p>
            <a:pPr marL="0" indent="0">
              <a:buFont typeface="Arial" panose="020B0604020202020204" pitchFamily="34" charset="0"/>
              <a:buNone/>
            </a:pPr>
            <a:r>
              <a:rPr lang="en-US" b="1" err="1"/>
              <a:t>Microsegmentation</a:t>
            </a:r>
            <a:endParaRPr lang="en-US" b="1"/>
          </a:p>
        </p:txBody>
      </p:sp>
    </p:spTree>
    <p:extLst>
      <p:ext uri="{BB962C8B-B14F-4D97-AF65-F5344CB8AC3E}">
        <p14:creationId xmlns:p14="http://schemas.microsoft.com/office/powerpoint/2010/main" val="4181640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CD011-C7A4-76E6-F83F-D881910D64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9ADD4FB-E0B4-138E-CB0A-0FD5B11ADF0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ED047B9-173D-EA04-6569-38AAACBA9C3A}"/>
              </a:ext>
            </a:extLst>
          </p:cNvPr>
          <p:cNvPicPr>
            <a:picLocks noChangeAspect="1"/>
          </p:cNvPicPr>
          <p:nvPr/>
        </p:nvPicPr>
        <p:blipFill>
          <a:blip r:embed="rId3"/>
          <a:stretch>
            <a:fillRect/>
          </a:stretch>
        </p:blipFill>
        <p:spPr>
          <a:xfrm>
            <a:off x="0" y="4219"/>
            <a:ext cx="12192000" cy="6199322"/>
          </a:xfrm>
          <a:prstGeom prst="rect">
            <a:avLst/>
          </a:prstGeom>
        </p:spPr>
      </p:pic>
    </p:spTree>
    <p:extLst>
      <p:ext uri="{BB962C8B-B14F-4D97-AF65-F5344CB8AC3E}">
        <p14:creationId xmlns:p14="http://schemas.microsoft.com/office/powerpoint/2010/main" val="3511685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0F862-C1BB-E57F-5473-5005283E8DC8}"/>
              </a:ext>
            </a:extLst>
          </p:cNvPr>
          <p:cNvSpPr>
            <a:spLocks noGrp="1"/>
          </p:cNvSpPr>
          <p:nvPr>
            <p:ph type="title"/>
          </p:nvPr>
        </p:nvSpPr>
        <p:spPr/>
        <p:txBody>
          <a:bodyPr/>
          <a:lstStyle/>
          <a:p>
            <a:r>
              <a:rPr lang="en-US"/>
              <a:t>Value from including security requirements in infrastructure projects</a:t>
            </a:r>
          </a:p>
        </p:txBody>
      </p:sp>
      <p:sp>
        <p:nvSpPr>
          <p:cNvPr id="3" name="Content Placeholder 2">
            <a:extLst>
              <a:ext uri="{FF2B5EF4-FFF2-40B4-BE49-F238E27FC236}">
                <a16:creationId xmlns:a16="http://schemas.microsoft.com/office/drawing/2014/main" id="{7B4B412A-A844-27E4-2B95-AF7A30D0D28C}"/>
              </a:ext>
            </a:extLst>
          </p:cNvPr>
          <p:cNvSpPr>
            <a:spLocks noGrp="1"/>
          </p:cNvSpPr>
          <p:nvPr>
            <p:ph idx="1"/>
          </p:nvPr>
        </p:nvSpPr>
        <p:spPr/>
        <p:txBody>
          <a:bodyPr/>
          <a:lstStyle/>
          <a:p>
            <a:r>
              <a:rPr lang="en-US"/>
              <a:t>Design efficiencies since we could size the appliances modestly</a:t>
            </a:r>
          </a:p>
          <a:p>
            <a:r>
              <a:rPr lang="en-US"/>
              <a:t>Really robust client isolation</a:t>
            </a:r>
          </a:p>
          <a:p>
            <a:r>
              <a:rPr lang="en-US"/>
              <a:t>Picked a vendor based on the integration with Entra</a:t>
            </a:r>
          </a:p>
          <a:p>
            <a:pPr lvl="1"/>
            <a:r>
              <a:rPr lang="en-US"/>
              <a:t>Uniform, location-independent signins</a:t>
            </a:r>
          </a:p>
          <a:p>
            <a:pPr lvl="1"/>
            <a:r>
              <a:rPr lang="en-US"/>
              <a:t>Streamlined sign-in process after deploy using Entra logs</a:t>
            </a:r>
          </a:p>
        </p:txBody>
      </p:sp>
    </p:spTree>
    <p:extLst>
      <p:ext uri="{BB962C8B-B14F-4D97-AF65-F5344CB8AC3E}">
        <p14:creationId xmlns:p14="http://schemas.microsoft.com/office/powerpoint/2010/main" val="2152653493"/>
      </p:ext>
    </p:extLst>
  </p:cSld>
  <p:clrMapOvr>
    <a:masterClrMapping/>
  </p:clrMapOvr>
</p:sld>
</file>

<file path=ppt/theme/theme1.xml><?xml version="1.0" encoding="utf-8"?>
<a:theme xmlns:a="http://schemas.openxmlformats.org/drawingml/2006/main" name="CI-theme">
  <a:themeElements>
    <a:clrScheme name="CI Theme-use">
      <a:dk1>
        <a:srgbClr val="000000"/>
      </a:dk1>
      <a:lt1>
        <a:srgbClr val="FFFFFF"/>
      </a:lt1>
      <a:dk2>
        <a:srgbClr val="0E2841"/>
      </a:dk2>
      <a:lt2>
        <a:srgbClr val="E8E8E8"/>
      </a:lt2>
      <a:accent1>
        <a:srgbClr val="666666"/>
      </a:accent1>
      <a:accent2>
        <a:srgbClr val="D64127"/>
      </a:accent2>
      <a:accent3>
        <a:srgbClr val="009975"/>
      </a:accent3>
      <a:accent4>
        <a:srgbClr val="999999"/>
      </a:accent4>
      <a:accent5>
        <a:srgbClr val="901F61"/>
      </a:accent5>
      <a:accent6>
        <a:srgbClr val="ADBF2B"/>
      </a:accent6>
      <a:hlink>
        <a:srgbClr val="037159"/>
      </a:hlink>
      <a:folHlink>
        <a:srgbClr val="00C295"/>
      </a:folHlink>
    </a:clrScheme>
    <a:fontScheme name="CI custom">
      <a:majorFont>
        <a:latin typeface="Avenir Next LT Pro Dem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9D98F22C-B07D-1C47-A716-4966E5BD5640}" vid="{0CCD09E5-13AD-C546-B5EC-C4DCC0193F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eee2b0b-b4a2-447e-8293-57e46fd45172" xsi:nil="true"/>
    <lcf76f155ced4ddcb4097134ff3c332f xmlns="0753609e-71e6-436d-8054-a142531b157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EEAEE9B137171449D675CD5AAF28264" ma:contentTypeVersion="10" ma:contentTypeDescription="Create a new document." ma:contentTypeScope="" ma:versionID="efe3164b1d5b7a7b603ffddd0666ed54">
  <xsd:schema xmlns:xsd="http://www.w3.org/2001/XMLSchema" xmlns:xs="http://www.w3.org/2001/XMLSchema" xmlns:p="http://schemas.microsoft.com/office/2006/metadata/properties" xmlns:ns2="0753609e-71e6-436d-8054-a142531b157a" xmlns:ns3="9eee2b0b-b4a2-447e-8293-57e46fd45172" targetNamespace="http://schemas.microsoft.com/office/2006/metadata/properties" ma:root="true" ma:fieldsID="2a988a937423f98239d609939ffbc7c7" ns2:_="" ns3:_="">
    <xsd:import namespace="0753609e-71e6-436d-8054-a142531b157a"/>
    <xsd:import namespace="9eee2b0b-b4a2-447e-8293-57e46fd4517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53609e-71e6-436d-8054-a142531b157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217126c-3fd4-4e20-831e-2b4699c982bc"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ee2b0b-b4a2-447e-8293-57e46fd4517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2c5d2d9-1948-4b77-8313-accddd3ec855}" ma:internalName="TaxCatchAll" ma:showField="CatchAllData" ma:web="9eee2b0b-b4a2-447e-8293-57e46fd4517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7438C18-0CFE-4C05-9D8A-522F97696127}">
  <ds:schemaRefs>
    <ds:schemaRef ds:uri="http://purl.org/dc/dcmitype/"/>
    <ds:schemaRef ds:uri="http://schemas.openxmlformats.org/package/2006/metadata/core-properties"/>
    <ds:schemaRef ds:uri="http://schemas.microsoft.com/office/2006/documentManagement/types"/>
    <ds:schemaRef ds:uri="http://purl.org/dc/terms/"/>
    <ds:schemaRef ds:uri="9eee2b0b-b4a2-447e-8293-57e46fd45172"/>
    <ds:schemaRef ds:uri="0753609e-71e6-436d-8054-a142531b157a"/>
    <ds:schemaRef ds:uri="http://purl.org/dc/elements/1.1/"/>
    <ds:schemaRef ds:uri="http://schemas.microsoft.com/office/infopath/2007/PartnerControl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B0BAFFEF-BA70-4153-88AE-46E261F5E6B1}">
  <ds:schemaRefs>
    <ds:schemaRef ds:uri="http://schemas.microsoft.com/sharepoint/v3/contenttype/forms"/>
  </ds:schemaRefs>
</ds:datastoreItem>
</file>

<file path=customXml/itemProps3.xml><?xml version="1.0" encoding="utf-8"?>
<ds:datastoreItem xmlns:ds="http://schemas.openxmlformats.org/officeDocument/2006/customXml" ds:itemID="{5C469234-26FC-41DC-B2DD-429371567FF6}">
  <ds:schemaRefs>
    <ds:schemaRef ds:uri="0753609e-71e6-436d-8054-a142531b157a"/>
    <ds:schemaRef ds:uri="9eee2b0b-b4a2-447e-8293-57e46fd4517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CI-presentation-template</Template>
  <TotalTime>10</TotalTime>
  <Words>2641</Words>
  <Application>Microsoft Office PowerPoint</Application>
  <PresentationFormat>Widescreen</PresentationFormat>
  <Paragraphs>318</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Arial</vt:lpstr>
      <vt:lpstr>Avenir Next LT Pro</vt:lpstr>
      <vt:lpstr>Avenir Next LT Pro Demi</vt:lpstr>
      <vt:lpstr>CI-theme</vt:lpstr>
      <vt:lpstr>Modern Information Security</vt:lpstr>
      <vt:lpstr>What does Modern security mean?</vt:lpstr>
      <vt:lpstr>Topic agenda</vt:lpstr>
      <vt:lpstr>1,100 people in ten countries</vt:lpstr>
      <vt:lpstr>Threat environment</vt:lpstr>
      <vt:lpstr>Threat environment—attacker profile</vt:lpstr>
      <vt:lpstr>Key takeaway</vt:lpstr>
      <vt:lpstr>First pillar: Multifactor Auth</vt:lpstr>
      <vt:lpstr>Value of MFA+SSPR</vt:lpstr>
      <vt:lpstr>Entra ID reports of vital interest </vt:lpstr>
      <vt:lpstr>Second Pillar: Desktop Resilience</vt:lpstr>
      <vt:lpstr>People were harder than process or technology</vt:lpstr>
      <vt:lpstr>Huge value in fast, low-touch reset process</vt:lpstr>
      <vt:lpstr>High-value standards</vt:lpstr>
      <vt:lpstr>Third pillar: Endpoint protection </vt:lpstr>
      <vt:lpstr>Value in process streamlining</vt:lpstr>
      <vt:lpstr>Defender reports of vital interest</vt:lpstr>
      <vt:lpstr>Fourth pillar: Network Protection</vt:lpstr>
      <vt:lpstr>Value in content filtering</vt:lpstr>
      <vt:lpstr>WARP reports of vital interest </vt:lpstr>
      <vt:lpstr>Fifth pillar: SOC automation</vt:lpstr>
      <vt:lpstr>Value in automating incident response</vt:lpstr>
      <vt:lpstr>SOC reports of vital interest </vt:lpstr>
      <vt:lpstr>Sixth pillar: WLAN protections</vt:lpstr>
      <vt:lpstr>PowerPoint Presentation</vt:lpstr>
      <vt:lpstr>Value from including security requirements in infrastructure projects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 Arnold</dc:creator>
  <cp:lastModifiedBy>Rob Arnold</cp:lastModifiedBy>
  <cp:revision>2</cp:revision>
  <dcterms:created xsi:type="dcterms:W3CDTF">2026-01-12T15:31:30Z</dcterms:created>
  <dcterms:modified xsi:type="dcterms:W3CDTF">2026-04-28T14:01:11Z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0x0101008EEAEE9B137171449D675CD5AAF28264</vt:lpwstr>
  </property>
</Properties>
</file>